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8" r:id="rId4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AquaSDR · TECHNICAL APPROACH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TextBox 117"/>
          <p:cNvSpPr txBox="1"/>
          <p:nvPr/>
        </p:nvSpPr>
        <p:spPr>
          <a:xfrm>
            <a:off x="1828800" y="850392"/>
            <a:ext cx="8503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67085"/>
                </a:solidFill>
                <a:latin typeface="Arial"/>
              </a:rPr>
              <a:t>Adaptive Software-Defined Sonar Transmitter for AUVs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1188720"/>
            <a:ext cx="2971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SENSE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" y="1353312"/>
            <a:ext cx="2971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Real environment · real sensors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74320" y="1536192"/>
            <a:ext cx="297180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pic>
        <p:nvPicPr>
          <p:cNvPr id="122" name="Picture 121" descr="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627632"/>
            <a:ext cx="1691640" cy="1860990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sp>
        <p:nvSpPr>
          <p:cNvPr id="123" name="Rectangle 122"/>
          <p:cNvSpPr/>
          <p:nvPr/>
        </p:nvSpPr>
        <p:spPr>
          <a:xfrm>
            <a:off x="2578608" y="1673352"/>
            <a:ext cx="489204" cy="155448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578608" y="1673352"/>
            <a:ext cx="48920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720" y="1746504"/>
            <a:ext cx="132588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83153"/>
                </a:solidFill>
                <a:latin typeface="Arial"/>
              </a:rPr>
              <a:t>TDS / SALINITY PROXY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399032" y="1828800"/>
            <a:ext cx="18288" cy="8892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1417320" y="1837692"/>
            <a:ext cx="621073" cy="301983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28" name="Oval 127"/>
          <p:cNvSpPr/>
          <p:nvPr/>
        </p:nvSpPr>
        <p:spPr>
          <a:xfrm>
            <a:off x="1999988" y="2101271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720" y="2075688"/>
            <a:ext cx="132588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83153"/>
                </a:solidFill>
                <a:latin typeface="Arial"/>
              </a:rPr>
              <a:t>HC-SR04 · AIR RANGE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399032" y="2157984"/>
            <a:ext cx="18288" cy="4427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1417320" y="2162411"/>
            <a:ext cx="868777" cy="210341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32" name="Oval 131"/>
          <p:cNvSpPr/>
          <p:nvPr/>
        </p:nvSpPr>
        <p:spPr>
          <a:xfrm>
            <a:off x="2247693" y="2334347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" y="2404872"/>
            <a:ext cx="132588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83153"/>
                </a:solidFill>
                <a:latin typeface="Arial"/>
              </a:rPr>
              <a:t>TURBIDITY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399032" y="2487168"/>
            <a:ext cx="18288" cy="3630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1417320" y="2490798"/>
            <a:ext cx="652489" cy="129523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36" name="Oval 135"/>
          <p:cNvSpPr/>
          <p:nvPr/>
        </p:nvSpPr>
        <p:spPr>
          <a:xfrm>
            <a:off x="2031404" y="2581916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20" y="2734056"/>
            <a:ext cx="132588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83153"/>
                </a:solidFill>
                <a:latin typeface="Arial"/>
              </a:rPr>
              <a:t>DS18B20 TEMPERATURE</a:t>
            </a:r>
          </a:p>
        </p:txBody>
      </p:sp>
      <p:cxnSp>
        <p:nvCxnSpPr>
          <p:cNvPr id="138" name="Connector 137"/>
          <p:cNvCxnSpPr/>
          <p:nvPr/>
        </p:nvCxnSpPr>
        <p:spPr>
          <a:xfrm flipV="1">
            <a:off x="1399032" y="2813205"/>
            <a:ext cx="18288" cy="3147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1417320" y="2588922"/>
            <a:ext cx="1303771" cy="224283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2682686" y="2550517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720" y="3063240"/>
            <a:ext cx="132588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83153"/>
                </a:solidFill>
                <a:latin typeface="Arial"/>
              </a:rPr>
              <a:t>PRESSURE / DEPTH</a:t>
            </a:r>
          </a:p>
        </p:txBody>
      </p:sp>
      <p:cxnSp>
        <p:nvCxnSpPr>
          <p:cNvPr id="142" name="Connector 141"/>
          <p:cNvCxnSpPr/>
          <p:nvPr/>
        </p:nvCxnSpPr>
        <p:spPr>
          <a:xfrm flipV="1">
            <a:off x="1399032" y="3143312"/>
            <a:ext cx="18288" cy="2224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1417320" y="2992277"/>
            <a:ext cx="1242147" cy="151035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44" name="Oval 143"/>
          <p:cNvSpPr/>
          <p:nvPr/>
        </p:nvSpPr>
        <p:spPr>
          <a:xfrm>
            <a:off x="2621062" y="2953872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17320" y="3516054"/>
            <a:ext cx="1691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3B8C7A"/>
                </a:solidFill>
                <a:latin typeface="Arial"/>
              </a:rPr>
              <a:t>ADC · 1-Wire · I²C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4320" y="3712463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Also on board  </a:t>
            </a:r>
            <a:r>
              <a:rPr sz="780" b="0" i="0">
                <a:solidFill>
                  <a:srgbClr val="667085"/>
                </a:solidFill>
                <a:latin typeface="Arial"/>
              </a:rPr>
              <a:t>BMP390 · IMU + magnetometer · INA219 ×2 (mounted, not commissioned)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4320" y="4114800"/>
            <a:ext cx="2971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 i="0">
                <a:solidFill>
                  <a:srgbClr val="183153"/>
                </a:solidFill>
                <a:latin typeface="Arial"/>
              </a:rPr>
              <a:t>ONE POLICY · TWO INPUTS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4297680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C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74320" y="4325112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A0 sensor</a:t>
            </a:r>
          </a:p>
          <a:p>
            <a:pPr algn="ctr"/>
            <a:r>
              <a:rPr sz="760" b="0" i="0">
                <a:solidFill>
                  <a:srgbClr val="667085"/>
                </a:solidFill>
                <a:latin typeface="Arial"/>
              </a:rPr>
              <a:t>TDS_PROXY → ADC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691640" y="4297680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C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691640" y="4325112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Web command</a:t>
            </a:r>
          </a:p>
          <a:p>
            <a:pPr algn="ctr"/>
            <a:r>
              <a:rPr sz="760" b="0" i="0">
                <a:solidFill>
                  <a:srgbClr val="667085"/>
                </a:solidFill>
                <a:latin typeface="Arial"/>
              </a:rPr>
              <a:t>console → UART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937259" y="4663440"/>
            <a:ext cx="0" cy="128016"/>
          </a:xfrm>
          <a:prstGeom prst="line">
            <a:avLst/>
          </a:prstGeom>
          <a:ln w="11430">
            <a:solidFill>
              <a:srgbClr val="3B8C7A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2354580" y="4663440"/>
            <a:ext cx="0" cy="128016"/>
          </a:xfrm>
          <a:prstGeom prst="line">
            <a:avLst/>
          </a:prstGeom>
          <a:ln w="11430">
            <a:solidFill>
              <a:srgbClr val="3B8C7A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937259" y="4791456"/>
            <a:ext cx="2409445" cy="0"/>
          </a:xfrm>
          <a:prstGeom prst="line">
            <a:avLst/>
          </a:prstGeom>
          <a:ln w="11430">
            <a:solidFill>
              <a:srgbClr val="3B8C7A"/>
            </a:solidFill>
          </a:ln>
          <a:effectLst/>
        </p:spPr>
      </p:cxnSp>
      <p:sp>
        <p:nvSpPr>
          <p:cNvPr id="155" name="TextBox 154"/>
          <p:cNvSpPr txBox="1"/>
          <p:nvPr/>
        </p:nvSpPr>
        <p:spPr>
          <a:xfrm>
            <a:off x="3474720" y="1188720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DECIDE · SYNTHESISE · STREAM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4720" y="1353312"/>
            <a:ext cx="4206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STM32F446RE embedded control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3474720" y="1536192"/>
            <a:ext cx="4206239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58" name="Rectangle 157"/>
          <p:cNvSpPr/>
          <p:nvPr/>
        </p:nvSpPr>
        <p:spPr>
          <a:xfrm>
            <a:off x="3474720" y="1609344"/>
            <a:ext cx="4206240" cy="3639312"/>
          </a:xfrm>
          <a:prstGeom prst="rect">
            <a:avLst/>
          </a:prstGeom>
          <a:solidFill>
            <a:srgbClr val="F3F6F9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474720" y="1609344"/>
            <a:ext cx="4206240" cy="246888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474720" y="1609344"/>
            <a:ext cx="42062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THE NEXT PING IS COMPUTED ON THE MCU</a:t>
            </a:r>
          </a:p>
        </p:txBody>
      </p:sp>
      <p:pic>
        <p:nvPicPr>
          <p:cNvPr id="161" name="Picture 160" descr="b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920240"/>
            <a:ext cx="2633472" cy="974385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sp>
        <p:nvSpPr>
          <p:cNvPr id="162" name="Rectangle 161"/>
          <p:cNvSpPr/>
          <p:nvPr/>
        </p:nvSpPr>
        <p:spPr>
          <a:xfrm>
            <a:off x="3611879" y="1965960"/>
            <a:ext cx="489204" cy="155448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611879" y="1965960"/>
            <a:ext cx="48920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cxnSp>
        <p:nvCxnSpPr>
          <p:cNvPr id="164" name="Connector 163"/>
          <p:cNvCxnSpPr/>
          <p:nvPr/>
        </p:nvCxnSpPr>
        <p:spPr>
          <a:xfrm flipV="1">
            <a:off x="4247753" y="2031319"/>
            <a:ext cx="50512" cy="590478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</p:cxnSp>
      <p:sp>
        <p:nvSpPr>
          <p:cNvPr id="165" name="Oval 164"/>
          <p:cNvSpPr/>
          <p:nvPr/>
        </p:nvSpPr>
        <p:spPr>
          <a:xfrm>
            <a:off x="4266261" y="1999315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45164" y="2621797"/>
            <a:ext cx="1205179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645164" y="2630941"/>
            <a:ext cx="120517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83153"/>
                </a:solidFill>
                <a:latin typeface="Arial"/>
              </a:rPr>
              <a:t>STM32 NUCLEO-F446RE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5335523" y="2134750"/>
            <a:ext cx="29298" cy="584486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</p:cxnSp>
      <p:sp>
        <p:nvSpPr>
          <p:cNvPr id="169" name="Oval 168"/>
          <p:cNvSpPr/>
          <p:nvPr/>
        </p:nvSpPr>
        <p:spPr>
          <a:xfrm>
            <a:off x="5332817" y="268723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19548" y="1988446"/>
            <a:ext cx="143195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619548" y="1997590"/>
            <a:ext cx="143195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83153"/>
                </a:solidFill>
                <a:latin typeface="Arial"/>
              </a:rPr>
              <a:t>Sensor interface boards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272784" y="1920240"/>
            <a:ext cx="1316736" cy="974385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336792" y="1938528"/>
            <a:ext cx="1216152" cy="9378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183153"/>
                </a:solidFill>
                <a:latin typeface="Arial"/>
              </a:rPr>
              <a:t>MCU ADC CAPTURE</a:t>
            </a:r>
            <a:r>
              <a:rPr sz="720" b="0" i="0">
                <a:solidFill>
                  <a:srgbClr val="667085"/>
                </a:solidFill>
                <a:latin typeface="Arial"/>
              </a:rPr>
              <a:t> · LFM</a:t>
            </a:r>
          </a:p>
          <a:p>
            <a:pPr algn="l"/>
            <a:r>
              <a:rPr sz="1150" b="1" i="0">
                <a:solidFill>
                  <a:srgbClr val="183153"/>
                </a:solidFill>
                <a:latin typeface="Arial"/>
              </a:rPr>
              <a:t>42 kHz</a:t>
            </a:r>
          </a:p>
          <a:p>
            <a:pPr algn="l"/>
            <a:r>
              <a:rPr sz="1150" b="1" i="0">
                <a:solidFill>
                  <a:srgbClr val="183153"/>
                </a:solidFill>
                <a:latin typeface="Arial"/>
              </a:rPr>
              <a:t>4 kHz BW</a:t>
            </a:r>
          </a:p>
          <a:p>
            <a:pPr algn="l"/>
            <a:r>
              <a:rPr sz="1150" b="1" i="0">
                <a:solidFill>
                  <a:srgbClr val="183153"/>
                </a:solidFill>
                <a:latin typeface="Arial"/>
              </a:rPr>
              <a:t>2 ms</a:t>
            </a:r>
          </a:p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Hann · 330/330 commands</a:t>
            </a:r>
          </a:p>
          <a:p>
            <a:pPr algn="l"/>
            <a:r>
              <a:rPr sz="680" b="0" i="0">
                <a:solidFill>
                  <a:srgbClr val="667085"/>
                </a:solidFill>
                <a:latin typeface="Arial"/>
              </a:rPr>
              <a:t>0 DMA underruns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3721608" y="3145536"/>
            <a:ext cx="0" cy="1581912"/>
          </a:xfrm>
          <a:prstGeom prst="line">
            <a:avLst/>
          </a:prstGeom>
          <a:ln w="12700">
            <a:solidFill>
              <a:srgbClr val="D0D5DD"/>
            </a:solidFill>
          </a:ln>
          <a:effectLst/>
        </p:spPr>
      </p:cxnSp>
      <p:sp>
        <p:nvSpPr>
          <p:cNvPr id="175" name="Rectangle 174"/>
          <p:cNvSpPr/>
          <p:nvPr/>
        </p:nvSpPr>
        <p:spPr>
          <a:xfrm>
            <a:off x="3593592" y="2935224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611880" y="2944368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950208" y="2935224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ACQUIRE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950208" y="311810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ADC · 1-Wire · I²C</a:t>
            </a:r>
          </a:p>
          <a:p>
            <a:pPr algn="l"/>
            <a:r>
              <a:rPr sz="800" b="0" i="0">
                <a:solidFill>
                  <a:srgbClr val="667085"/>
                </a:solidFill>
                <a:latin typeface="Arial"/>
              </a:rPr>
              <a:t>Reject stale / invalid inputs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593592" y="3387852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611880" y="3396996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950208" y="3387852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950208" y="3570732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Smoothing + hysteresis</a:t>
            </a:r>
          </a:p>
          <a:p>
            <a:pPr algn="l"/>
            <a:r>
              <a:rPr sz="800" b="0" i="0">
                <a:solidFill>
                  <a:srgbClr val="667085"/>
                </a:solidFill>
                <a:latin typeface="Arial"/>
              </a:rPr>
              <a:t>CLEAR / TRANSITION / MURKY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593592" y="3840480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611880" y="3849624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50208" y="3840480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950208" y="402336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LFM · Geometric · Barker-13</a:t>
            </a:r>
          </a:p>
          <a:p>
            <a:pPr algn="l"/>
            <a:r>
              <a:rPr sz="800" b="0" i="0">
                <a:solidFill>
                  <a:srgbClr val="667085"/>
                </a:solidFill>
                <a:latin typeface="Arial"/>
              </a:rPr>
              <a:t>Hann · Hamming · Blackman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593592" y="4293108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611880" y="4302252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04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950208" y="4293108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950208" y="4475988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TIM6 + DMA → 12-bit DAC1 / PA4</a:t>
            </a:r>
          </a:p>
          <a:p>
            <a:pPr algn="l"/>
            <a:r>
              <a:rPr sz="800" b="0" i="0">
                <a:solidFill>
                  <a:srgbClr val="667085"/>
                </a:solidFill>
                <a:latin typeface="Arial"/>
              </a:rPr>
              <a:t>1 MS/s · 0 underruns · CPU free between transfers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593592" y="47457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11880" y="47548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950208" y="4745736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SELF-VALIDATE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50208" y="492861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ADC + DMA capture of DAC output</a:t>
            </a:r>
          </a:p>
          <a:p>
            <a:pPr algn="l"/>
            <a:r>
              <a:rPr sz="800" b="0" i="0">
                <a:solidFill>
                  <a:srgbClr val="667085"/>
                </a:solidFill>
                <a:latin typeface="Arial"/>
              </a:rPr>
              <a:t>FFT · spectrogram · matched filter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529584" y="4384548"/>
            <a:ext cx="0" cy="452628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3529584" y="4837176"/>
            <a:ext cx="64008" cy="0"/>
          </a:xfrm>
          <a:prstGeom prst="line">
            <a:avLst/>
          </a:prstGeom>
          <a:ln w="9525">
            <a:solidFill>
              <a:srgbClr val="183153"/>
            </a:solidFill>
            <a:tailEnd type="triangle" w="sm" len="sm"/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108960" y="3026664"/>
            <a:ext cx="365760" cy="0"/>
          </a:xfrm>
          <a:prstGeom prst="line">
            <a:avLst/>
          </a:prstGeom>
          <a:ln w="13970">
            <a:solidFill>
              <a:srgbClr val="3B8C7A"/>
            </a:solidFill>
            <a:tailEnd type="triangle" w="sm" len="sm"/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346704" y="3479292"/>
            <a:ext cx="0" cy="1312164"/>
          </a:xfrm>
          <a:prstGeom prst="line">
            <a:avLst/>
          </a:prstGeom>
          <a:ln w="13970">
            <a:solidFill>
              <a:srgbClr val="3B8C7A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3346704" y="3479292"/>
            <a:ext cx="128016" cy="0"/>
          </a:xfrm>
          <a:prstGeom prst="line">
            <a:avLst/>
          </a:prstGeom>
          <a:ln w="13970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7909560" y="1188720"/>
            <a:ext cx="2697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ADAPTED NEXT PING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909560" y="1353312"/>
            <a:ext cx="2697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Adaptive waveform parameters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7909560" y="1536192"/>
            <a:ext cx="269748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203" name="TextBox 202"/>
          <p:cNvSpPr txBox="1"/>
          <p:nvPr/>
        </p:nvSpPr>
        <p:spPr>
          <a:xfrm>
            <a:off x="7909560" y="164592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63238"/>
                </a:solidFill>
                <a:latin typeface="Arial"/>
              </a:rPr>
              <a:t/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695944" y="164592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CLEAR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336024" y="164592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TRANSITION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976104" y="164592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MURKY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7909560" y="1828800"/>
            <a:ext cx="2706624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sp>
        <p:nvSpPr>
          <p:cNvPr id="208" name="TextBox 207"/>
          <p:cNvSpPr txBox="1"/>
          <p:nvPr/>
        </p:nvSpPr>
        <p:spPr>
          <a:xfrm>
            <a:off x="7909560" y="1874519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CENTRE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695944" y="187451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42 kHz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336024" y="187451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40 kHz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976104" y="187451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38 kHz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7909560" y="2048255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13" name="TextBox 212"/>
          <p:cNvSpPr txBox="1"/>
          <p:nvPr/>
        </p:nvSpPr>
        <p:spPr>
          <a:xfrm>
            <a:off x="7909560" y="205740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BANDWIDTH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695944" y="20574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 kHz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336024" y="20574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2 kHz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976104" y="20574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1 kHz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7909560" y="2231136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7909560" y="2240279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PULSE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695944" y="224027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2 ms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336024" y="224027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 ms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976104" y="224027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8 ms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7909560" y="2414015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23" name="TextBox 222"/>
          <p:cNvSpPr txBox="1"/>
          <p:nvPr/>
        </p:nvSpPr>
        <p:spPr>
          <a:xfrm>
            <a:off x="7909560" y="242316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AMPLITUDE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695944" y="24231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35 %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336024" y="24231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50 %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976104" y="24231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62 %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7909560" y="2596896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28" name="TextBox 227"/>
          <p:cNvSpPr txBox="1"/>
          <p:nvPr/>
        </p:nvSpPr>
        <p:spPr>
          <a:xfrm>
            <a:off x="7909560" y="2651760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CLEAR → shorter / sharper ping</a:t>
            </a:r>
          </a:p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MURKY → lower band / longer pulse / higher output demand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7680960" y="3479292"/>
            <a:ext cx="118871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7799831" y="2194560"/>
            <a:ext cx="0" cy="1284732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7799831" y="2194560"/>
            <a:ext cx="82296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32" name="Rectangle 231"/>
          <p:cNvSpPr/>
          <p:nvPr/>
        </p:nvSpPr>
        <p:spPr>
          <a:xfrm>
            <a:off x="7909560" y="3017520"/>
            <a:ext cx="4069080" cy="896112"/>
          </a:xfrm>
          <a:prstGeom prst="rect">
            <a:avLst/>
          </a:prstGeom>
          <a:solidFill>
            <a:srgbClr val="FFFFFF"/>
          </a:solidFill>
          <a:ln w="11430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982712" y="3063240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05  CONDITION · ANALOG FRONT END</a:t>
            </a:r>
          </a:p>
        </p:txBody>
      </p:sp>
      <p:pic>
        <p:nvPicPr>
          <p:cNvPr id="234" name="Picture 233" descr="afe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291840"/>
            <a:ext cx="2103120" cy="576987"/>
          </a:xfrm>
          <a:prstGeom prst="rect">
            <a:avLst/>
          </a:prstGeom>
          <a:ln w="3175">
            <a:solidFill>
              <a:srgbClr val="FFFFFF"/>
            </a:solidFill>
          </a:ln>
          <a:effectLst/>
        </p:spPr>
      </p:pic>
      <p:sp>
        <p:nvSpPr>
          <p:cNvPr id="235" name="TextBox 234"/>
          <p:cNvSpPr txBox="1"/>
          <p:nvPr/>
        </p:nvSpPr>
        <p:spPr>
          <a:xfrm>
            <a:off x="10177272" y="327355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2nd-order low-pass filter</a:t>
            </a:r>
          </a:p>
          <a:p>
            <a:pPr algn="l"/>
            <a:r>
              <a:rPr sz="760" b="0" i="0">
                <a:solidFill>
                  <a:srgbClr val="667085"/>
                </a:solidFill>
                <a:latin typeface="Arial"/>
              </a:rPr>
              <a:t>70.7 kHz design target</a:t>
            </a:r>
          </a:p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TLV9062 ×1.5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177272" y="3703320"/>
            <a:ext cx="1783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40" b="1" i="0">
                <a:solidFill>
                  <a:srgbClr val="8A7BAF"/>
                </a:solidFill>
                <a:latin typeface="Arial"/>
              </a:rPr>
              <a:t>DESIGNED · BUILDING NEXT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7680960" y="4384548"/>
            <a:ext cx="155448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7836408" y="3794760"/>
            <a:ext cx="0" cy="589788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7836408" y="3794760"/>
            <a:ext cx="73152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cxnSp>
        <p:nvCxnSpPr>
          <p:cNvPr id="240" name="Connector 239"/>
          <p:cNvCxnSpPr/>
          <p:nvPr/>
        </p:nvCxnSpPr>
        <p:spPr>
          <a:xfrm>
            <a:off x="9944100" y="3913632"/>
            <a:ext cx="0" cy="82296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pic>
        <p:nvPicPr>
          <p:cNvPr id="241" name="Picture 240" descr="paylo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860" y="4005072"/>
            <a:ext cx="3840480" cy="1028240"/>
          </a:xfrm>
          <a:prstGeom prst="rect">
            <a:avLst/>
          </a:prstGeom>
          <a:ln w="12700">
            <a:solidFill>
              <a:srgbClr val="183153"/>
            </a:solidFill>
          </a:ln>
          <a:effectLst/>
        </p:spPr>
      </p:pic>
      <p:sp>
        <p:nvSpPr>
          <p:cNvPr id="242" name="Rectangle 241"/>
          <p:cNvSpPr/>
          <p:nvPr/>
        </p:nvSpPr>
        <p:spPr>
          <a:xfrm>
            <a:off x="8078724" y="4059935"/>
            <a:ext cx="489204" cy="155448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078724" y="4059935"/>
            <a:ext cx="48920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060744"/>
            <a:ext cx="4069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AQUASDR PAYLOAD · PHYSICAL PROTOTYPE</a:t>
            </a:r>
            <a:r>
              <a:rPr sz="780" b="0" i="0">
                <a:solidFill>
                  <a:srgbClr val="667085"/>
                </a:solidFill>
                <a:latin typeface="Arial"/>
              </a:rPr>
              <a:t>  acrylic hull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909560" y="5225336"/>
            <a:ext cx="4069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1">
                <a:solidFill>
                  <a:srgbClr val="667085"/>
                </a:solidFill>
                <a:latin typeface="Arial"/>
              </a:rPr>
              <a:t>Scope validation → PENDING  ·  AUV hull-slot pod → NEXT BUILD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74320" y="5413248"/>
            <a:ext cx="11704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65760" y="549554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TECHNOLOGIES</a:t>
            </a:r>
          </a:p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TO BE USED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1600200" y="5486400"/>
            <a:ext cx="0" cy="36576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249" name="TextBox 248"/>
          <p:cNvSpPr txBox="1"/>
          <p:nvPr/>
        </p:nvSpPr>
        <p:spPr>
          <a:xfrm>
            <a:off x="1737360" y="5477256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Embedded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STM32F446RE · C/C++ · ADC · TIM6 · DMA · DAC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858000" y="5477256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Signal processing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LFM · Geometric · Barker-13 · FFT · Windowing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737360" y="5687568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Analog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Sallen-Key LPF · TLV9062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858000" y="5687568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Software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React · Node.js · WebSocket · Python · OpenSCAD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02920" y="6035040"/>
            <a:ext cx="71323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02920" y="60350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SENSE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1271016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6" name="Rectangle 255"/>
          <p:cNvSpPr/>
          <p:nvPr/>
        </p:nvSpPr>
        <p:spPr>
          <a:xfrm>
            <a:off x="1600200" y="6035040"/>
            <a:ext cx="74980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600200" y="6035040"/>
            <a:ext cx="74980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2404872" y="6144768"/>
            <a:ext cx="274319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9" name="Rectangle 258"/>
          <p:cNvSpPr/>
          <p:nvPr/>
        </p:nvSpPr>
        <p:spPr>
          <a:xfrm>
            <a:off x="2734056" y="6035040"/>
            <a:ext cx="98755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734056" y="6035040"/>
            <a:ext cx="98755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3776472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62" name="Rectangle 261"/>
          <p:cNvSpPr/>
          <p:nvPr/>
        </p:nvSpPr>
        <p:spPr>
          <a:xfrm>
            <a:off x="4105656" y="6035040"/>
            <a:ext cx="78638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4105656" y="6035040"/>
            <a:ext cx="786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4946904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5276088" y="6035040"/>
            <a:ext cx="950976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5276088" y="6035040"/>
            <a:ext cx="95097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CONDITION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6281928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6611112" y="6035040"/>
            <a:ext cx="74980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611112" y="6035040"/>
            <a:ext cx="74980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VERIFY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8869680" y="6144768"/>
            <a:ext cx="320040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sp>
        <p:nvSpPr>
          <p:cNvPr id="271" name="TextBox 270"/>
          <p:cNvSpPr txBox="1"/>
          <p:nvPr/>
        </p:nvSpPr>
        <p:spPr>
          <a:xfrm>
            <a:off x="9253728" y="6062472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667085"/>
                </a:solidFill>
                <a:latin typeface="Arial"/>
              </a:rPr>
              <a:t>built / running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10287000" y="6144768"/>
            <a:ext cx="320040" cy="0"/>
          </a:xfrm>
          <a:prstGeom prst="line">
            <a:avLst/>
          </a:prstGeom>
          <a:ln w="12700">
            <a:solidFill>
              <a:srgbClr val="8A7BAF"/>
            </a:solidFill>
            <a:prstDash val="dash"/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10671048" y="60624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667085"/>
                </a:solidFill>
                <a:latin typeface="Arial"/>
              </a:rPr>
              <a:t>designed / building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