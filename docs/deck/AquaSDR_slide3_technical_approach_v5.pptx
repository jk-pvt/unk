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8" r:id="rId4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4.png"/><Relationship Id="rId7" Type="http://schemas.openxmlformats.org/officeDocument/2006/relationships/image" Target="../media/image5.jp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latin typeface="Times New Roman"/>
                <a:ea typeface="Times New Roman"/>
                <a:cs typeface="Times New Roman"/>
                <a:sym typeface="Times New Roman"/>
              </a:rPr>
              <a:t>AquaSDR · TECHNICAL APPROACH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3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8" name="TextBox 117"/>
          <p:cNvSpPr txBox="1"/>
          <p:nvPr/>
        </p:nvSpPr>
        <p:spPr>
          <a:xfrm>
            <a:off x="1828800" y="850392"/>
            <a:ext cx="8503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67085"/>
                </a:solidFill>
                <a:latin typeface="Arial"/>
              </a:rPr>
              <a:t>Environment  →  Embedded Decision  →  Adaptive Ping  →  Physical Output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4320" y="1188720"/>
            <a:ext cx="3063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SENSE · REAL ENVIRONMENT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4320" y="1353312"/>
            <a:ext cx="30632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Live water-condition inputs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74320" y="1536192"/>
            <a:ext cx="306324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pic>
        <p:nvPicPr>
          <p:cNvPr id="122" name="Picture 121" descr="senso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645920"/>
            <a:ext cx="2103120" cy="2313663"/>
          </a:xfrm>
          <a:prstGeom prst="rect">
            <a:avLst/>
          </a:prstGeom>
          <a:ln w="9525">
            <a:solidFill>
              <a:srgbClr val="183153"/>
            </a:solidFill>
          </a:ln>
          <a:effectLst/>
        </p:spPr>
      </p:pic>
      <p:sp>
        <p:nvSpPr>
          <p:cNvPr id="123" name="TextBox 122"/>
          <p:cNvSpPr txBox="1"/>
          <p:nvPr/>
        </p:nvSpPr>
        <p:spPr>
          <a:xfrm>
            <a:off x="18288" y="1883664"/>
            <a:ext cx="116128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30" b="1" i="0">
                <a:solidFill>
                  <a:srgbClr val="183153"/>
                </a:solidFill>
                <a:latin typeface="Arial"/>
              </a:rPr>
              <a:t>TURBIDITY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197864" y="1965960"/>
            <a:ext cx="36576" cy="39437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1234440" y="2005397"/>
            <a:ext cx="811203" cy="874676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126" name="Oval 125"/>
          <p:cNvSpPr/>
          <p:nvPr/>
        </p:nvSpPr>
        <p:spPr>
          <a:xfrm>
            <a:off x="2007238" y="2841669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8288" y="2340864"/>
            <a:ext cx="116128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30" b="1" i="0">
                <a:solidFill>
                  <a:srgbClr val="183153"/>
                </a:solidFill>
                <a:latin typeface="Arial"/>
              </a:rPr>
              <a:t>TDS / SALINITY PROXY</a:t>
            </a:r>
          </a:p>
        </p:txBody>
      </p:sp>
      <p:cxnSp>
        <p:nvCxnSpPr>
          <p:cNvPr id="128" name="Connector 127"/>
          <p:cNvCxnSpPr/>
          <p:nvPr/>
        </p:nvCxnSpPr>
        <p:spPr>
          <a:xfrm flipV="1">
            <a:off x="1197864" y="2416799"/>
            <a:ext cx="36576" cy="6361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1234440" y="2282515"/>
            <a:ext cx="772145" cy="134284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130" name="Oval 129"/>
          <p:cNvSpPr/>
          <p:nvPr/>
        </p:nvSpPr>
        <p:spPr>
          <a:xfrm>
            <a:off x="1968180" y="2244110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8288" y="2798064"/>
            <a:ext cx="116128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30" b="1" i="0">
                <a:solidFill>
                  <a:srgbClr val="183153"/>
                </a:solidFill>
                <a:latin typeface="Arial"/>
              </a:rPr>
              <a:t>PRESSURE / DEPTH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197864" y="2880360"/>
            <a:ext cx="36576" cy="10692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1234440" y="2891052"/>
            <a:ext cx="1544290" cy="451454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134" name="Oval 133"/>
          <p:cNvSpPr/>
          <p:nvPr/>
        </p:nvSpPr>
        <p:spPr>
          <a:xfrm>
            <a:off x="2740326" y="3304101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8288" y="3255264"/>
            <a:ext cx="116128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30" b="1" i="0">
                <a:solidFill>
                  <a:srgbClr val="183153"/>
                </a:solidFill>
                <a:latin typeface="Arial"/>
              </a:rPr>
              <a:t>DS18B20 TEMPERATURE</a:t>
            </a:r>
          </a:p>
        </p:txBody>
      </p:sp>
      <p:cxnSp>
        <p:nvCxnSpPr>
          <p:cNvPr id="136" name="Connector 135"/>
          <p:cNvCxnSpPr/>
          <p:nvPr/>
        </p:nvCxnSpPr>
        <p:spPr>
          <a:xfrm flipV="1">
            <a:off x="1197864" y="3326603"/>
            <a:ext cx="36576" cy="10957"/>
          </a:xfrm>
          <a:prstGeom prst="line">
            <a:avLst/>
          </a:prstGeom>
          <a:ln w="11430">
            <a:solidFill>
              <a:srgbClr val="183153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 flipV="1">
            <a:off x="1234440" y="2841037"/>
            <a:ext cx="1620904" cy="485566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</p:cxnSp>
      <p:sp>
        <p:nvSpPr>
          <p:cNvPr id="138" name="Oval 137"/>
          <p:cNvSpPr/>
          <p:nvPr/>
        </p:nvSpPr>
        <p:spPr>
          <a:xfrm>
            <a:off x="2816939" y="2802632"/>
            <a:ext cx="76809" cy="768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234440" y="4005303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B8C7A"/>
                </a:solidFill>
                <a:latin typeface="Arial"/>
              </a:rPr>
              <a:t>ADC · 1-Wire · I²C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4320" y="431596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0" i="1">
                <a:solidFill>
                  <a:srgbClr val="183153"/>
                </a:solidFill>
                <a:latin typeface="Arial"/>
              </a:rPr>
              <a:t>Environmental inputs provide the state used to select the next ping.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74720" y="1188720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STM32F446RE · EMBEDDED CONTROL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474720" y="1353312"/>
            <a:ext cx="420624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Firmware in C / C++ on the payload's own MCU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3474720" y="1536192"/>
            <a:ext cx="4206239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144" name="Rectangle 143"/>
          <p:cNvSpPr/>
          <p:nvPr/>
        </p:nvSpPr>
        <p:spPr>
          <a:xfrm>
            <a:off x="3474720" y="1609344"/>
            <a:ext cx="4206240" cy="3639312"/>
          </a:xfrm>
          <a:prstGeom prst="rect">
            <a:avLst/>
          </a:prstGeom>
          <a:solidFill>
            <a:srgbClr val="F3F6F9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474720" y="1609344"/>
            <a:ext cx="4206240" cy="274320"/>
          </a:xfrm>
          <a:prstGeom prst="rect">
            <a:avLst/>
          </a:prstGeom>
          <a:solidFill>
            <a:srgbClr val="1831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474720" y="1609344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rial"/>
              </a:rPr>
              <a:t>THE NEXT PING IS COMPUTED FROM THE CURRENT ENVIRONMENT</a:t>
            </a:r>
          </a:p>
        </p:txBody>
      </p:sp>
      <p:pic>
        <p:nvPicPr>
          <p:cNvPr id="147" name="Picture 146" descr="b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79" y="1947672"/>
            <a:ext cx="3017520" cy="1116483"/>
          </a:xfrm>
          <a:prstGeom prst="rect">
            <a:avLst/>
          </a:prstGeom>
          <a:ln w="9525">
            <a:solidFill>
              <a:srgbClr val="183153"/>
            </a:solidFill>
          </a:ln>
          <a:effectLst/>
        </p:spPr>
      </p:pic>
      <p:cxnSp>
        <p:nvCxnSpPr>
          <p:cNvPr id="148" name="Connector 147"/>
          <p:cNvCxnSpPr/>
          <p:nvPr/>
        </p:nvCxnSpPr>
        <p:spPr>
          <a:xfrm flipV="1">
            <a:off x="4762195" y="2074951"/>
            <a:ext cx="145755" cy="698918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</p:cxnSp>
      <p:sp>
        <p:nvSpPr>
          <p:cNvPr id="149" name="Oval 148"/>
          <p:cNvSpPr/>
          <p:nvPr/>
        </p:nvSpPr>
        <p:spPr>
          <a:xfrm>
            <a:off x="4875946" y="2042947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159605" y="2773869"/>
            <a:ext cx="1205179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159605" y="2783013"/>
            <a:ext cx="1205179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83153"/>
                </a:solidFill>
                <a:latin typeface="Arial"/>
              </a:rPr>
              <a:t>STM32 NUCLEO-F446RE</a:t>
            </a:r>
          </a:p>
        </p:txBody>
      </p:sp>
      <p:cxnSp>
        <p:nvCxnSpPr>
          <p:cNvPr id="152" name="Connector 151"/>
          <p:cNvCxnSpPr/>
          <p:nvPr/>
        </p:nvCxnSpPr>
        <p:spPr>
          <a:xfrm flipH="1">
            <a:off x="6130046" y="2179253"/>
            <a:ext cx="12893" cy="683935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</p:cxnSp>
      <p:sp>
        <p:nvSpPr>
          <p:cNvPr id="153" name="Oval 152"/>
          <p:cNvSpPr/>
          <p:nvPr/>
        </p:nvSpPr>
        <p:spPr>
          <a:xfrm>
            <a:off x="6098042" y="283118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426963" y="2014661"/>
            <a:ext cx="143195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426963" y="2023805"/>
            <a:ext cx="143195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83153"/>
                </a:solidFill>
                <a:latin typeface="Arial"/>
              </a:rPr>
              <a:t>Sensor interface boards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3721608" y="3346704"/>
            <a:ext cx="0" cy="1504188"/>
          </a:xfrm>
          <a:prstGeom prst="line">
            <a:avLst/>
          </a:prstGeom>
          <a:ln w="12700">
            <a:solidFill>
              <a:srgbClr val="D0D5DD"/>
            </a:solidFill>
          </a:ln>
          <a:effectLst/>
        </p:spPr>
      </p:cxnSp>
      <p:sp>
        <p:nvSpPr>
          <p:cNvPr id="157" name="Rectangle 156"/>
          <p:cNvSpPr/>
          <p:nvPr/>
        </p:nvSpPr>
        <p:spPr>
          <a:xfrm>
            <a:off x="3593592" y="31455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611880" y="31546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950208" y="31455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ACQUIRE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950208" y="33101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Read environmental inputs · reject stale / invalid readings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593592" y="34884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611880" y="34975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950208" y="34884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DECIDE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950208" y="36530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Smoothing + hysteresis → CLEAR / TRANSITION / MURKY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593592" y="38313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611880" y="38404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03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950208" y="38313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ADAPT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950208" y="39959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Centre / bandwidth · pulse duration · amplitude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593592" y="41742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611880" y="41833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950208" y="41742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SYNTHESISE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950208" y="43388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LFM · geometric · Barker-13  ×  Hann / Hamming / Blackman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593592" y="45171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611880" y="45262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950208" y="45171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STREAM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950208" y="46817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TIM6 + DMA → 12-bit DAC1 / PA4 · 1 MS/s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593592" y="4860036"/>
            <a:ext cx="256032" cy="192024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11880" y="48691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19" b="1" i="0">
                <a:solidFill>
                  <a:srgbClr val="183153"/>
                </a:solidFill>
                <a:latin typeface="Arial"/>
              </a:rPr>
              <a:t>06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950208" y="486003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183153"/>
                </a:solidFill>
                <a:latin typeface="Arial"/>
              </a:rPr>
              <a:t>VERIFY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950208" y="5024628"/>
            <a:ext cx="3703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263238"/>
                </a:solidFill>
                <a:latin typeface="Arial"/>
              </a:rPr>
              <a:t>ADC + DMA capture → FFT · spectrogram · matched filter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3337560" y="3236976"/>
            <a:ext cx="137160" cy="0"/>
          </a:xfrm>
          <a:prstGeom prst="line">
            <a:avLst/>
          </a:prstGeom>
          <a:ln w="15240">
            <a:solidFill>
              <a:srgbClr val="3B8C7A"/>
            </a:solidFill>
            <a:tailEnd type="triangle" w="sm" len="sm"/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7909560" y="1188720"/>
            <a:ext cx="2697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183153"/>
                </a:solidFill>
                <a:latin typeface="Arial"/>
              </a:rPr>
              <a:t>ADAPTIVE NEXT PING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09560" y="1353312"/>
            <a:ext cx="2697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667085"/>
                </a:solidFill>
                <a:latin typeface="Arial"/>
              </a:rPr>
              <a:t>Parameters chosen per water condition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7909560" y="1536192"/>
            <a:ext cx="2697480" cy="0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185" name="Rectangle 184"/>
          <p:cNvSpPr/>
          <p:nvPr/>
        </p:nvSpPr>
        <p:spPr>
          <a:xfrm>
            <a:off x="7909560" y="1682496"/>
            <a:ext cx="4069080" cy="941832"/>
          </a:xfrm>
          <a:prstGeom prst="rect">
            <a:avLst/>
          </a:prstGeom>
          <a:solidFill>
            <a:srgbClr val="FFFFFF"/>
          </a:solidFill>
          <a:ln w="11430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909560" y="1682496"/>
            <a:ext cx="4069080" cy="21031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>
            <a:off x="7909560" y="1892808"/>
            <a:ext cx="4069080" cy="0"/>
          </a:xfrm>
          <a:prstGeom prst="line">
            <a:avLst/>
          </a:prstGeom>
          <a:ln w="9525">
            <a:solidFill>
              <a:srgbClr val="183153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>
            <a:off x="8961120" y="1682496"/>
            <a:ext cx="0" cy="941832"/>
          </a:xfrm>
          <a:prstGeom prst="line">
            <a:avLst/>
          </a:prstGeom>
          <a:ln w="7620">
            <a:solidFill>
              <a:srgbClr val="183153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9966960" y="1682496"/>
            <a:ext cx="0" cy="941832"/>
          </a:xfrm>
          <a:prstGeom prst="line">
            <a:avLst/>
          </a:prstGeom>
          <a:ln w="7620">
            <a:solidFill>
              <a:srgbClr val="D0D5DD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>
            <a:off x="10972800" y="1682496"/>
            <a:ext cx="0" cy="941832"/>
          </a:xfrm>
          <a:prstGeom prst="line">
            <a:avLst/>
          </a:prstGeom>
          <a:ln w="7620">
            <a:solidFill>
              <a:srgbClr val="D0D5DD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11978640" y="1682496"/>
            <a:ext cx="0" cy="941832"/>
          </a:xfrm>
          <a:prstGeom prst="line">
            <a:avLst/>
          </a:prstGeom>
          <a:ln w="7620">
            <a:solidFill>
              <a:srgbClr val="D0D5DD"/>
            </a:solidFill>
          </a:ln>
          <a:effectLst/>
        </p:spPr>
      </p:cxnSp>
      <p:sp>
        <p:nvSpPr>
          <p:cNvPr id="192" name="TextBox 191"/>
          <p:cNvSpPr txBox="1"/>
          <p:nvPr/>
        </p:nvSpPr>
        <p:spPr>
          <a:xfrm>
            <a:off x="7982712" y="1682496"/>
            <a:ext cx="960119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60" b="1" i="0">
                <a:solidFill>
                  <a:srgbClr val="667085"/>
                </a:solidFill>
                <a:latin typeface="Arial"/>
              </a:rPr>
              <a:t>PARAMETER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961120" y="1682496"/>
            <a:ext cx="100584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83153"/>
                </a:solidFill>
                <a:latin typeface="Arial"/>
              </a:rPr>
              <a:t>CLEAR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966960" y="1682496"/>
            <a:ext cx="100584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83153"/>
                </a:solidFill>
                <a:latin typeface="Arial"/>
              </a:rPr>
              <a:t>TRANSITION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72800" y="1682496"/>
            <a:ext cx="100584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83153"/>
                </a:solidFill>
                <a:latin typeface="Arial"/>
              </a:rPr>
              <a:t>MURKY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982712" y="1892808"/>
            <a:ext cx="96011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CENTRE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961120" y="189280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42 kHz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9966960" y="189280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40 kHz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972800" y="189280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38 kHz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7909560" y="2075688"/>
            <a:ext cx="406908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01" name="TextBox 200"/>
          <p:cNvSpPr txBox="1"/>
          <p:nvPr/>
        </p:nvSpPr>
        <p:spPr>
          <a:xfrm>
            <a:off x="7982712" y="2075688"/>
            <a:ext cx="96011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BANDWIDTH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961120" y="207568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 kHz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66960" y="207568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2 kHz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972800" y="207568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1 kHz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7909560" y="2258568"/>
            <a:ext cx="406908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7982712" y="2258568"/>
            <a:ext cx="96011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PULSE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961120" y="225856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2 ms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966960" y="225856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4 ms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0972800" y="225856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8 ms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7909560" y="2441448"/>
            <a:ext cx="4069080" cy="0"/>
          </a:xfrm>
          <a:prstGeom prst="line">
            <a:avLst/>
          </a:prstGeom>
          <a:ln w="6350">
            <a:solidFill>
              <a:srgbClr val="D0D5DD"/>
            </a:solidFill>
          </a:ln>
          <a:effectLst/>
        </p:spPr>
      </p:cxnSp>
      <p:sp>
        <p:nvSpPr>
          <p:cNvPr id="211" name="TextBox 210"/>
          <p:cNvSpPr txBox="1"/>
          <p:nvPr/>
        </p:nvSpPr>
        <p:spPr>
          <a:xfrm>
            <a:off x="7982712" y="2441448"/>
            <a:ext cx="960119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83153"/>
                </a:solidFill>
                <a:latin typeface="Arial"/>
              </a:rPr>
              <a:t>AMPLITUDE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961120" y="244144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35 %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966960" y="244144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50 %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972800" y="2441448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" b="0" i="0">
                <a:solidFill>
                  <a:srgbClr val="263238"/>
                </a:solidFill>
                <a:latin typeface="Arial"/>
              </a:rPr>
              <a:t>62 %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909560" y="2670048"/>
            <a:ext cx="4069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263238"/>
                </a:solidFill>
                <a:latin typeface="Arial"/>
              </a:rPr>
              <a:t>CLEAR → shorter / sharper ping</a:t>
            </a:r>
          </a:p>
          <a:p>
            <a:pPr algn="l"/>
            <a:r>
              <a:rPr sz="800" b="0" i="0">
                <a:solidFill>
                  <a:srgbClr val="263238"/>
                </a:solidFill>
                <a:latin typeface="Arial"/>
              </a:rPr>
              <a:t>MURKY → lower band / longer pulse / higher output demand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7680960" y="3922776"/>
            <a:ext cx="64008" cy="0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7744968" y="2153412"/>
            <a:ext cx="0" cy="1769364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>
            <a:off x="7744968" y="2153412"/>
            <a:ext cx="160020" cy="0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19" name="Rectangle 218"/>
          <p:cNvSpPr/>
          <p:nvPr/>
        </p:nvSpPr>
        <p:spPr>
          <a:xfrm>
            <a:off x="7909560" y="3035808"/>
            <a:ext cx="4069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982712" y="3081528"/>
            <a:ext cx="3291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83153"/>
                </a:solidFill>
                <a:latin typeface="Arial"/>
              </a:rPr>
              <a:t>CONDITION · ANALOG FRONT END</a:t>
            </a:r>
          </a:p>
        </p:txBody>
      </p:sp>
      <p:pic>
        <p:nvPicPr>
          <p:cNvPr id="221" name="Picture 220" descr="afe_ch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3282696"/>
            <a:ext cx="1874519" cy="514271"/>
          </a:xfrm>
          <a:prstGeom prst="rect">
            <a:avLst/>
          </a:prstGeom>
          <a:ln w="3175">
            <a:solidFill>
              <a:srgbClr val="FFFFFF"/>
            </a:solidFill>
          </a:ln>
          <a:effectLst/>
        </p:spPr>
      </p:pic>
      <p:sp>
        <p:nvSpPr>
          <p:cNvPr id="222" name="TextBox 221"/>
          <p:cNvSpPr txBox="1"/>
          <p:nvPr/>
        </p:nvSpPr>
        <p:spPr>
          <a:xfrm>
            <a:off x="9966960" y="329184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LPF → TLV9062 → output</a:t>
            </a:r>
          </a:p>
          <a:p>
            <a:pPr algn="l"/>
            <a:r>
              <a:rPr sz="780" b="0" i="0">
                <a:solidFill>
                  <a:srgbClr val="667085"/>
                </a:solidFill>
                <a:latin typeface="Arial"/>
              </a:rPr>
              <a:t>2nd-order low-pass · 70.7 kHz</a:t>
            </a:r>
          </a:p>
          <a:p>
            <a:pPr algn="l"/>
            <a:r>
              <a:rPr sz="780" b="0" i="0">
                <a:solidFill>
                  <a:srgbClr val="667085"/>
                </a:solidFill>
                <a:latin typeface="Arial"/>
              </a:rPr>
              <a:t>op-amp gain ×1.5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7680960" y="4608576"/>
            <a:ext cx="164592" cy="0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7845552" y="3429000"/>
            <a:ext cx="0" cy="1179576"/>
          </a:xfrm>
          <a:prstGeom prst="line">
            <a:avLst/>
          </a:prstGeom>
          <a:ln w="12700">
            <a:solidFill>
              <a:srgbClr val="183153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7845552" y="3429000"/>
            <a:ext cx="64008" cy="0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cxnSp>
        <p:nvCxnSpPr>
          <p:cNvPr id="226" name="Connector 225"/>
          <p:cNvCxnSpPr/>
          <p:nvPr/>
        </p:nvCxnSpPr>
        <p:spPr>
          <a:xfrm>
            <a:off x="9944100" y="3822191"/>
            <a:ext cx="0" cy="91441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pic>
        <p:nvPicPr>
          <p:cNvPr id="227" name="Picture 226" descr="payloa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3922776"/>
            <a:ext cx="3383280" cy="905831"/>
          </a:xfrm>
          <a:prstGeom prst="rect">
            <a:avLst/>
          </a:prstGeom>
          <a:ln w="12700">
            <a:solidFill>
              <a:srgbClr val="183153"/>
            </a:solidFill>
          </a:ln>
          <a:effectLst/>
        </p:spPr>
      </p:pic>
      <p:sp>
        <p:nvSpPr>
          <p:cNvPr id="228" name="TextBox 227"/>
          <p:cNvSpPr txBox="1"/>
          <p:nvPr/>
        </p:nvSpPr>
        <p:spPr>
          <a:xfrm>
            <a:off x="7909560" y="4856039"/>
            <a:ext cx="4069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>
                <a:solidFill>
                  <a:srgbClr val="183153"/>
                </a:solidFill>
                <a:latin typeface="Arial"/>
              </a:rPr>
              <a:t>AQUASDR PAYLOAD</a:t>
            </a:r>
            <a:r>
              <a:rPr sz="780" b="0" i="0">
                <a:solidFill>
                  <a:srgbClr val="667085"/>
                </a:solidFill>
                <a:latin typeface="Arial"/>
              </a:rPr>
              <a:t>   physical acrylic payload prototype for AUV integration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9944100" y="5011487"/>
            <a:ext cx="0" cy="64008"/>
          </a:xfrm>
          <a:prstGeom prst="line">
            <a:avLst/>
          </a:prstGeom>
          <a:ln w="1270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30" name="Rectangle 229"/>
          <p:cNvSpPr/>
          <p:nvPr/>
        </p:nvSpPr>
        <p:spPr>
          <a:xfrm>
            <a:off x="7909560" y="5084639"/>
            <a:ext cx="4069080" cy="329184"/>
          </a:xfrm>
          <a:prstGeom prst="rect">
            <a:avLst/>
          </a:prstGeom>
          <a:solidFill>
            <a:srgbClr val="F3F6F9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982712" y="5093783"/>
            <a:ext cx="39593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VALIDATION  </a:t>
            </a:r>
            <a:r>
              <a:rPr sz="780" b="0" i="0">
                <a:solidFill>
                  <a:srgbClr val="263238"/>
                </a:solidFill>
                <a:latin typeface="Arial"/>
              </a:rPr>
              <a:t>MCU ADC capture · FFT · spectrogram · matched filter</a:t>
            </a:r>
          </a:p>
          <a:p>
            <a:pPr algn="l"/>
            <a:r>
              <a:rPr sz="720" b="0" i="0">
                <a:solidFill>
                  <a:srgbClr val="667085"/>
                </a:solidFill>
                <a:latin typeface="Arial"/>
              </a:rPr>
              <a:t>+ external instrument (oscilloscope / spectrum analyzer)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274320" y="5468112"/>
            <a:ext cx="11704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365760" y="55321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83153"/>
                </a:solidFill>
                <a:latin typeface="Arial"/>
              </a:rPr>
              <a:t>TECHNOLOGIES</a:t>
            </a:r>
          </a:p>
          <a:p>
            <a:pPr algn="l"/>
            <a:r>
              <a:rPr sz="860" b="1" i="0">
                <a:solidFill>
                  <a:srgbClr val="183153"/>
                </a:solidFill>
                <a:latin typeface="Arial"/>
              </a:rPr>
              <a:t>TO BE USED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1600200" y="5532120"/>
            <a:ext cx="0" cy="347472"/>
          </a:xfrm>
          <a:prstGeom prst="line">
            <a:avLst/>
          </a:prstGeom>
          <a:ln w="9525">
            <a:solidFill>
              <a:srgbClr val="D0D5DD"/>
            </a:solidFill>
          </a:ln>
          <a:effectLst/>
        </p:spPr>
      </p:cxnSp>
      <p:sp>
        <p:nvSpPr>
          <p:cNvPr id="235" name="TextBox 234"/>
          <p:cNvSpPr txBox="1"/>
          <p:nvPr/>
        </p:nvSpPr>
        <p:spPr>
          <a:xfrm>
            <a:off x="1737360" y="5513832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Embedded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C/C++ · STM32F446RE · ADC · TIM6 · DMA · 12-bit DAC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858000" y="5513832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Signal processing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LFM · Geometric sweep · Barker-13 · FFT · Windowing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737360" y="5724144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Analog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Sallen-Key LPF · TLV9062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858000" y="5724144"/>
            <a:ext cx="502920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83153"/>
                </a:solidFill>
                <a:latin typeface="Arial"/>
              </a:rPr>
              <a:t>Software   </a:t>
            </a:r>
            <a:r>
              <a:rPr sz="840" b="0" i="0">
                <a:solidFill>
                  <a:srgbClr val="263238"/>
                </a:solidFill>
                <a:latin typeface="Arial"/>
              </a:rPr>
              <a:t>React · Node.js · Python · OpenSCAD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656435" y="6016752"/>
            <a:ext cx="78638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656435" y="6016752"/>
            <a:ext cx="786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SENSE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2506827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42" name="Rectangle 241"/>
          <p:cNvSpPr/>
          <p:nvPr/>
        </p:nvSpPr>
        <p:spPr>
          <a:xfrm>
            <a:off x="2900019" y="6016752"/>
            <a:ext cx="8229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900019" y="6016752"/>
            <a:ext cx="822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DECIDE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3786987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45" name="Rectangle 244"/>
          <p:cNvSpPr/>
          <p:nvPr/>
        </p:nvSpPr>
        <p:spPr>
          <a:xfrm>
            <a:off x="4180179" y="6016752"/>
            <a:ext cx="7315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180179" y="6016752"/>
            <a:ext cx="7315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ADAPT</a:t>
            </a:r>
          </a:p>
        </p:txBody>
      </p:sp>
      <p:cxnSp>
        <p:nvCxnSpPr>
          <p:cNvPr id="247" name="Connector 246"/>
          <p:cNvCxnSpPr/>
          <p:nvPr/>
        </p:nvCxnSpPr>
        <p:spPr>
          <a:xfrm>
            <a:off x="4975707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48" name="Rectangle 247"/>
          <p:cNvSpPr/>
          <p:nvPr/>
        </p:nvSpPr>
        <p:spPr>
          <a:xfrm>
            <a:off x="5368899" y="6016752"/>
            <a:ext cx="1078992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5368899" y="6016752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SYNTHESISE</a:t>
            </a:r>
          </a:p>
        </p:txBody>
      </p:sp>
      <p:cxnSp>
        <p:nvCxnSpPr>
          <p:cNvPr id="250" name="Connector 249"/>
          <p:cNvCxnSpPr/>
          <p:nvPr/>
        </p:nvCxnSpPr>
        <p:spPr>
          <a:xfrm>
            <a:off x="6511899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51" name="Rectangle 250"/>
          <p:cNvSpPr/>
          <p:nvPr/>
        </p:nvSpPr>
        <p:spPr>
          <a:xfrm>
            <a:off x="6905091" y="6016752"/>
            <a:ext cx="8686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905091" y="6016752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STREAM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7837779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54" name="Rectangle 253"/>
          <p:cNvSpPr/>
          <p:nvPr/>
        </p:nvSpPr>
        <p:spPr>
          <a:xfrm>
            <a:off x="8230971" y="6016752"/>
            <a:ext cx="1024128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8230971" y="6016752"/>
            <a:ext cx="102412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CONDITION</a:t>
            </a:r>
          </a:p>
        </p:txBody>
      </p:sp>
      <p:cxnSp>
        <p:nvCxnSpPr>
          <p:cNvPr id="256" name="Connector 255"/>
          <p:cNvCxnSpPr/>
          <p:nvPr/>
        </p:nvCxnSpPr>
        <p:spPr>
          <a:xfrm>
            <a:off x="9319107" y="6135624"/>
            <a:ext cx="329184" cy="0"/>
          </a:xfrm>
          <a:prstGeom prst="line">
            <a:avLst/>
          </a:prstGeom>
          <a:ln w="11430">
            <a:solidFill>
              <a:srgbClr val="183153"/>
            </a:solidFill>
            <a:tailEnd type="triangle" w="sm" len="sm"/>
          </a:ln>
          <a:effectLst/>
        </p:spPr>
      </p:cxnSp>
      <p:sp>
        <p:nvSpPr>
          <p:cNvPr id="257" name="Rectangle 256"/>
          <p:cNvSpPr/>
          <p:nvPr/>
        </p:nvSpPr>
        <p:spPr>
          <a:xfrm>
            <a:off x="9712299" y="6016752"/>
            <a:ext cx="8229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1831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9712299" y="6016752"/>
            <a:ext cx="822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183153"/>
                </a:solidFill>
                <a:latin typeface="Arial"/>
              </a:rPr>
              <a:t>VERIFY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