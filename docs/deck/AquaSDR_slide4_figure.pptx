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9" r:id="rId5"/>
  </p:sldIdLst>
  <p:sldSz cx="12192000" cy="6858000"/>
  <p:notesSz cx="6858000" cy="9144000"/>
  <p:embeddedFontLst>
    <p:embeddedFont>
      <p:font typeface="Calibri" pitchFamily="34" charset="0"/>
      <p:regular r:id="rId10"/>
      <p:bold r:id="rId11"/>
      <p:italic r:id="rId12"/>
      <p:boldItalic r:id="rId13"/>
    </p:embeddedFont>
    <p:embeddedFont>
      <p:font typeface="Garamond" pitchFamily="18" charset="0"/>
      <p:regular r:id="rId14"/>
      <p:bold r:id="rId15"/>
      <p:italic r:id="rId16"/>
    </p:embeddedFont>
    <p:embeddedFont>
      <p:font typeface="Oswald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j6sIpfbBRMJiHKANEKy+deDLRG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798" y="-30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slide" Target="slides/slide4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customschemas.google.com/relationships/presentationmetadata" Target="metadata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188720"/>
            <a:ext cx="5760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" b="1" i="0">
                <a:solidFill>
                  <a:srgbClr val="183153"/>
                </a:solidFill>
                <a:latin typeface="Arial"/>
              </a:rPr>
              <a:t>ANALYSIS OF FEASIBILITY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353312"/>
            <a:ext cx="5760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667085"/>
                </a:solidFill>
                <a:latin typeface="Arial"/>
              </a:rPr>
              <a:t>Readiness of every subsystem, from design to instrument validation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1536192"/>
            <a:ext cx="5760720" cy="0"/>
          </a:xfrm>
          <a:prstGeom prst="line">
            <a:avLst/>
          </a:prstGeom>
          <a:ln w="9525">
            <a:solidFill>
              <a:srgbClr val="D0D5DD"/>
            </a:solidFill>
          </a:ln>
          <a:effectLst/>
        </p:spPr>
      </p:cxnSp>
      <p:sp>
        <p:nvSpPr>
          <p:cNvPr id="5" name="Rectangle 4"/>
          <p:cNvSpPr/>
          <p:nvPr/>
        </p:nvSpPr>
        <p:spPr>
          <a:xfrm>
            <a:off x="274320" y="1645920"/>
            <a:ext cx="5760720" cy="329184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48839" y="1673352"/>
            <a:ext cx="777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60" b="1" i="0">
                <a:solidFill>
                  <a:srgbClr val="183153"/>
                </a:solidFill>
                <a:latin typeface="Arial"/>
              </a:rPr>
              <a:t>DESIGNED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79" y="1673352"/>
            <a:ext cx="777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60" b="1" i="0">
                <a:solidFill>
                  <a:srgbClr val="183153"/>
                </a:solidFill>
                <a:latin typeface="Arial"/>
              </a:rPr>
              <a:t>SIMULATED</a:t>
            </a:r>
          </a:p>
          <a:p>
            <a:pPr algn="ctr"/>
            <a:r>
              <a:rPr sz="660" b="1" i="0">
                <a:solidFill>
                  <a:srgbClr val="183153"/>
                </a:solidFill>
                <a:latin typeface="Arial"/>
              </a:rPr>
              <a:t>/ TESTED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1673352"/>
            <a:ext cx="777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60" b="1" i="0">
                <a:solidFill>
                  <a:srgbClr val="183153"/>
                </a:solidFill>
                <a:latin typeface="Arial"/>
              </a:rPr>
              <a:t>BUILT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59" y="1673352"/>
            <a:ext cx="777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60" b="1" i="0">
                <a:solidFill>
                  <a:srgbClr val="183153"/>
                </a:solidFill>
                <a:latin typeface="Arial"/>
              </a:rPr>
              <a:t>ON-BOARD</a:t>
            </a:r>
          </a:p>
          <a:p>
            <a:pPr algn="ctr"/>
            <a:r>
              <a:rPr sz="660" b="1" i="0">
                <a:solidFill>
                  <a:srgbClr val="183153"/>
                </a:solidFill>
                <a:latin typeface="Arial"/>
              </a:rPr>
              <a:t>VERIFIED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1673352"/>
            <a:ext cx="777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60" b="1" i="0">
                <a:solidFill>
                  <a:srgbClr val="183153"/>
                </a:solidFill>
                <a:latin typeface="Arial"/>
              </a:rPr>
              <a:t>INSTRUMENT</a:t>
            </a:r>
          </a:p>
          <a:p>
            <a:pPr algn="ctr"/>
            <a:r>
              <a:rPr sz="660" b="1" i="0">
                <a:solidFill>
                  <a:srgbClr val="183153"/>
                </a:solidFill>
                <a:latin typeface="Arial"/>
              </a:rPr>
              <a:t>VALIDATED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1975104"/>
            <a:ext cx="5760720" cy="0"/>
          </a:xfrm>
          <a:prstGeom prst="line">
            <a:avLst/>
          </a:prstGeom>
          <a:ln w="9525">
            <a:solidFill>
              <a:srgbClr val="183153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310896" y="1988820"/>
            <a:ext cx="1819655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1" i="0">
                <a:solidFill>
                  <a:srgbClr val="183153"/>
                </a:solidFill>
                <a:latin typeface="Arial"/>
              </a:rPr>
              <a:t>Adaptive firmware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" y="2107692"/>
            <a:ext cx="1819655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" b="0" i="0">
                <a:solidFill>
                  <a:srgbClr val="667085"/>
                </a:solidFill>
                <a:latin typeface="Arial"/>
              </a:rPr>
              <a:t>C/C++ on STM32F446RE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6039" y="2105406"/>
            <a:ext cx="640080" cy="0"/>
          </a:xfrm>
          <a:prstGeom prst="line">
            <a:avLst/>
          </a:prstGeom>
          <a:ln w="15875">
            <a:solidFill>
              <a:srgbClr val="183153"/>
            </a:solidFill>
          </a:ln>
          <a:effectLst/>
        </p:spPr>
      </p:cxnSp>
      <p:sp>
        <p:nvSpPr>
          <p:cNvPr id="15" name="Oval 14"/>
          <p:cNvSpPr/>
          <p:nvPr/>
        </p:nvSpPr>
        <p:spPr>
          <a:xfrm>
            <a:off x="2468879" y="2036826"/>
            <a:ext cx="137160" cy="137160"/>
          </a:xfrm>
          <a:prstGeom prst="ellipse">
            <a:avLst/>
          </a:prstGeom>
          <a:solidFill>
            <a:srgbClr val="183153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3383279" y="2105406"/>
            <a:ext cx="640080" cy="0"/>
          </a:xfrm>
          <a:prstGeom prst="line">
            <a:avLst/>
          </a:prstGeom>
          <a:ln w="15875">
            <a:solidFill>
              <a:srgbClr val="183153"/>
            </a:solidFill>
          </a:ln>
          <a:effectLst/>
        </p:spPr>
      </p:cxnSp>
      <p:sp>
        <p:nvSpPr>
          <p:cNvPr id="17" name="Oval 16"/>
          <p:cNvSpPr/>
          <p:nvPr/>
        </p:nvSpPr>
        <p:spPr>
          <a:xfrm>
            <a:off x="3246119" y="2036826"/>
            <a:ext cx="137160" cy="137160"/>
          </a:xfrm>
          <a:prstGeom prst="ellipse">
            <a:avLst/>
          </a:prstGeom>
          <a:solidFill>
            <a:srgbClr val="183153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4160520" y="2105406"/>
            <a:ext cx="640079" cy="0"/>
          </a:xfrm>
          <a:prstGeom prst="line">
            <a:avLst/>
          </a:prstGeom>
          <a:ln w="15875">
            <a:solidFill>
              <a:srgbClr val="183153"/>
            </a:solidFill>
          </a:ln>
          <a:effectLst/>
        </p:spPr>
      </p:cxnSp>
      <p:sp>
        <p:nvSpPr>
          <p:cNvPr id="19" name="Oval 18"/>
          <p:cNvSpPr/>
          <p:nvPr/>
        </p:nvSpPr>
        <p:spPr>
          <a:xfrm>
            <a:off x="4023359" y="2036826"/>
            <a:ext cx="137160" cy="137160"/>
          </a:xfrm>
          <a:prstGeom prst="ellipse">
            <a:avLst/>
          </a:prstGeom>
          <a:solidFill>
            <a:srgbClr val="183153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00599" y="2036826"/>
            <a:ext cx="137160" cy="137160"/>
          </a:xfrm>
          <a:prstGeom prst="ellipse">
            <a:avLst/>
          </a:prstGeom>
          <a:solidFill>
            <a:srgbClr val="183153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77840" y="2036826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9D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274320" y="2235708"/>
            <a:ext cx="5760720" cy="0"/>
          </a:xfrm>
          <a:prstGeom prst="line">
            <a:avLst/>
          </a:prstGeom>
          <a:ln w="6350">
            <a:solidFill>
              <a:srgbClr val="D0D5DD"/>
            </a:solidFill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310896" y="2249424"/>
            <a:ext cx="1819655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1" i="0">
                <a:solidFill>
                  <a:srgbClr val="183153"/>
                </a:solidFill>
                <a:latin typeface="Arial"/>
              </a:rPr>
              <a:t>Timer + DMA + DAC streaming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" y="2368296"/>
            <a:ext cx="1819655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" b="0" i="0">
                <a:solidFill>
                  <a:srgbClr val="667085"/>
                </a:solidFill>
                <a:latin typeface="Arial"/>
              </a:rPr>
              <a:t>TIM6 → DMA1 → DAC1 · 1 MS/s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606039" y="2366010"/>
            <a:ext cx="640080" cy="0"/>
          </a:xfrm>
          <a:prstGeom prst="line">
            <a:avLst/>
          </a:prstGeom>
          <a:ln w="15875">
            <a:solidFill>
              <a:srgbClr val="183153"/>
            </a:solidFill>
          </a:ln>
          <a:effectLst/>
        </p:spPr>
      </p:cxnSp>
      <p:sp>
        <p:nvSpPr>
          <p:cNvPr id="26" name="Oval 25"/>
          <p:cNvSpPr/>
          <p:nvPr/>
        </p:nvSpPr>
        <p:spPr>
          <a:xfrm>
            <a:off x="2468879" y="2297430"/>
            <a:ext cx="137160" cy="137160"/>
          </a:xfrm>
          <a:prstGeom prst="ellipse">
            <a:avLst/>
          </a:prstGeom>
          <a:solidFill>
            <a:srgbClr val="183153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3383279" y="2366010"/>
            <a:ext cx="640080" cy="0"/>
          </a:xfrm>
          <a:prstGeom prst="line">
            <a:avLst/>
          </a:prstGeom>
          <a:ln w="15875">
            <a:solidFill>
              <a:srgbClr val="183153"/>
            </a:solidFill>
          </a:ln>
          <a:effectLst/>
        </p:spPr>
      </p:cxnSp>
      <p:sp>
        <p:nvSpPr>
          <p:cNvPr id="28" name="Oval 27"/>
          <p:cNvSpPr/>
          <p:nvPr/>
        </p:nvSpPr>
        <p:spPr>
          <a:xfrm>
            <a:off x="3246119" y="2297430"/>
            <a:ext cx="137160" cy="137160"/>
          </a:xfrm>
          <a:prstGeom prst="ellipse">
            <a:avLst/>
          </a:prstGeom>
          <a:solidFill>
            <a:srgbClr val="183153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4160520" y="2366010"/>
            <a:ext cx="640079" cy="0"/>
          </a:xfrm>
          <a:prstGeom prst="line">
            <a:avLst/>
          </a:prstGeom>
          <a:ln w="15875">
            <a:solidFill>
              <a:srgbClr val="183153"/>
            </a:solidFill>
          </a:ln>
          <a:effectLst/>
        </p:spPr>
      </p:cxnSp>
      <p:sp>
        <p:nvSpPr>
          <p:cNvPr id="30" name="Oval 29"/>
          <p:cNvSpPr/>
          <p:nvPr/>
        </p:nvSpPr>
        <p:spPr>
          <a:xfrm>
            <a:off x="4023359" y="2297430"/>
            <a:ext cx="137160" cy="137160"/>
          </a:xfrm>
          <a:prstGeom prst="ellipse">
            <a:avLst/>
          </a:prstGeom>
          <a:solidFill>
            <a:srgbClr val="183153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800599" y="2297430"/>
            <a:ext cx="137160" cy="137160"/>
          </a:xfrm>
          <a:prstGeom prst="ellipse">
            <a:avLst/>
          </a:prstGeom>
          <a:solidFill>
            <a:srgbClr val="183153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577840" y="2297430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9D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274320" y="2496312"/>
            <a:ext cx="5760720" cy="0"/>
          </a:xfrm>
          <a:prstGeom prst="line">
            <a:avLst/>
          </a:prstGeom>
          <a:ln w="6350">
            <a:solidFill>
              <a:srgbClr val="D0D5DD"/>
            </a:solidFill>
          </a:ln>
          <a:effectLst/>
        </p:spPr>
      </p:cxnSp>
      <p:sp>
        <p:nvSpPr>
          <p:cNvPr id="34" name="TextBox 33"/>
          <p:cNvSpPr txBox="1"/>
          <p:nvPr/>
        </p:nvSpPr>
        <p:spPr>
          <a:xfrm>
            <a:off x="310896" y="2510028"/>
            <a:ext cx="1819655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1" i="0">
                <a:solidFill>
                  <a:srgbClr val="183153"/>
                </a:solidFill>
                <a:latin typeface="Arial"/>
              </a:rPr>
              <a:t>LFM · geometric · Barker-13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0896" y="2628900"/>
            <a:ext cx="1819655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" b="0" i="0">
                <a:solidFill>
                  <a:srgbClr val="667085"/>
                </a:solidFill>
                <a:latin typeface="Arial"/>
              </a:rPr>
              <a:t>with Hann / Hamming / Blackman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606039" y="2626614"/>
            <a:ext cx="640080" cy="0"/>
          </a:xfrm>
          <a:prstGeom prst="line">
            <a:avLst/>
          </a:prstGeom>
          <a:ln w="15875">
            <a:solidFill>
              <a:srgbClr val="183153"/>
            </a:solidFill>
          </a:ln>
          <a:effectLst/>
        </p:spPr>
      </p:cxnSp>
      <p:sp>
        <p:nvSpPr>
          <p:cNvPr id="37" name="Oval 36"/>
          <p:cNvSpPr/>
          <p:nvPr/>
        </p:nvSpPr>
        <p:spPr>
          <a:xfrm>
            <a:off x="2468879" y="2558034"/>
            <a:ext cx="137160" cy="137160"/>
          </a:xfrm>
          <a:prstGeom prst="ellipse">
            <a:avLst/>
          </a:prstGeom>
          <a:solidFill>
            <a:srgbClr val="183153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3383279" y="2626614"/>
            <a:ext cx="640080" cy="0"/>
          </a:xfrm>
          <a:prstGeom prst="line">
            <a:avLst/>
          </a:prstGeom>
          <a:ln w="15875">
            <a:solidFill>
              <a:srgbClr val="183153"/>
            </a:solidFill>
          </a:ln>
          <a:effectLst/>
        </p:spPr>
      </p:cxnSp>
      <p:sp>
        <p:nvSpPr>
          <p:cNvPr id="39" name="Oval 38"/>
          <p:cNvSpPr/>
          <p:nvPr/>
        </p:nvSpPr>
        <p:spPr>
          <a:xfrm>
            <a:off x="3246119" y="2558034"/>
            <a:ext cx="137160" cy="137160"/>
          </a:xfrm>
          <a:prstGeom prst="ellipse">
            <a:avLst/>
          </a:prstGeom>
          <a:solidFill>
            <a:srgbClr val="183153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4160520" y="2626614"/>
            <a:ext cx="640079" cy="0"/>
          </a:xfrm>
          <a:prstGeom prst="line">
            <a:avLst/>
          </a:prstGeom>
          <a:ln w="15875">
            <a:solidFill>
              <a:srgbClr val="183153"/>
            </a:solidFill>
          </a:ln>
          <a:effectLst/>
        </p:spPr>
      </p:cxnSp>
      <p:sp>
        <p:nvSpPr>
          <p:cNvPr id="41" name="Oval 40"/>
          <p:cNvSpPr/>
          <p:nvPr/>
        </p:nvSpPr>
        <p:spPr>
          <a:xfrm>
            <a:off x="4023359" y="2558034"/>
            <a:ext cx="137160" cy="137160"/>
          </a:xfrm>
          <a:prstGeom prst="ellipse">
            <a:avLst/>
          </a:prstGeom>
          <a:solidFill>
            <a:srgbClr val="183153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800599" y="2558034"/>
            <a:ext cx="137160" cy="137160"/>
          </a:xfrm>
          <a:prstGeom prst="ellipse">
            <a:avLst/>
          </a:prstGeom>
          <a:solidFill>
            <a:srgbClr val="183153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577840" y="2558034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9D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274320" y="2756916"/>
            <a:ext cx="5760720" cy="0"/>
          </a:xfrm>
          <a:prstGeom prst="line">
            <a:avLst/>
          </a:prstGeom>
          <a:ln w="6350">
            <a:solidFill>
              <a:srgbClr val="D0D5DD"/>
            </a:solidFill>
          </a:ln>
          <a:effectLst/>
        </p:spPr>
      </p:cxnSp>
      <p:sp>
        <p:nvSpPr>
          <p:cNvPr id="45" name="TextBox 44"/>
          <p:cNvSpPr txBox="1"/>
          <p:nvPr/>
        </p:nvSpPr>
        <p:spPr>
          <a:xfrm>
            <a:off x="310896" y="2770632"/>
            <a:ext cx="1819655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1" i="0">
                <a:solidFill>
                  <a:srgbClr val="183153"/>
                </a:solidFill>
                <a:latin typeface="Arial"/>
              </a:rPr>
              <a:t>Sensor input + adaptation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0896" y="2889504"/>
            <a:ext cx="1819655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" b="0" i="0">
                <a:solidFill>
                  <a:srgbClr val="667085"/>
                </a:solidFill>
                <a:latin typeface="Arial"/>
              </a:rPr>
              <a:t>CLEAR / TRANSITION / MURKY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2606039" y="2887218"/>
            <a:ext cx="640080" cy="0"/>
          </a:xfrm>
          <a:prstGeom prst="line">
            <a:avLst/>
          </a:prstGeom>
          <a:ln w="15875">
            <a:solidFill>
              <a:srgbClr val="183153"/>
            </a:solidFill>
          </a:ln>
          <a:effectLst/>
        </p:spPr>
      </p:cxnSp>
      <p:sp>
        <p:nvSpPr>
          <p:cNvPr id="48" name="Oval 47"/>
          <p:cNvSpPr/>
          <p:nvPr/>
        </p:nvSpPr>
        <p:spPr>
          <a:xfrm>
            <a:off x="2468879" y="2818638"/>
            <a:ext cx="137160" cy="137160"/>
          </a:xfrm>
          <a:prstGeom prst="ellipse">
            <a:avLst/>
          </a:prstGeom>
          <a:solidFill>
            <a:srgbClr val="183153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3383279" y="2887218"/>
            <a:ext cx="640080" cy="0"/>
          </a:xfrm>
          <a:prstGeom prst="line">
            <a:avLst/>
          </a:prstGeom>
          <a:ln w="15875">
            <a:solidFill>
              <a:srgbClr val="183153"/>
            </a:solidFill>
          </a:ln>
          <a:effectLst/>
        </p:spPr>
      </p:cxnSp>
      <p:sp>
        <p:nvSpPr>
          <p:cNvPr id="50" name="Oval 49"/>
          <p:cNvSpPr/>
          <p:nvPr/>
        </p:nvSpPr>
        <p:spPr>
          <a:xfrm>
            <a:off x="3246119" y="2818638"/>
            <a:ext cx="137160" cy="137160"/>
          </a:xfrm>
          <a:prstGeom prst="ellipse">
            <a:avLst/>
          </a:prstGeom>
          <a:solidFill>
            <a:srgbClr val="183153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4160520" y="2887218"/>
            <a:ext cx="640079" cy="0"/>
          </a:xfrm>
          <a:prstGeom prst="line">
            <a:avLst/>
          </a:prstGeom>
          <a:ln w="15875">
            <a:solidFill>
              <a:srgbClr val="183153"/>
            </a:solidFill>
          </a:ln>
          <a:effectLst/>
        </p:spPr>
      </p:cxnSp>
      <p:sp>
        <p:nvSpPr>
          <p:cNvPr id="52" name="Oval 51"/>
          <p:cNvSpPr/>
          <p:nvPr/>
        </p:nvSpPr>
        <p:spPr>
          <a:xfrm>
            <a:off x="4023359" y="2818638"/>
            <a:ext cx="137160" cy="137160"/>
          </a:xfrm>
          <a:prstGeom prst="ellipse">
            <a:avLst/>
          </a:prstGeom>
          <a:solidFill>
            <a:srgbClr val="183153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800599" y="2818638"/>
            <a:ext cx="137160" cy="1371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839919" y="2857957"/>
            <a:ext cx="58521" cy="58521"/>
          </a:xfrm>
          <a:prstGeom prst="ellipse">
            <a:avLst/>
          </a:prstGeom>
          <a:solidFill>
            <a:srgbClr val="1831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577840" y="281863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9D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274320" y="3017520"/>
            <a:ext cx="5760720" cy="0"/>
          </a:xfrm>
          <a:prstGeom prst="line">
            <a:avLst/>
          </a:prstGeom>
          <a:ln w="6350">
            <a:solidFill>
              <a:srgbClr val="D0D5DD"/>
            </a:solidFill>
          </a:ln>
          <a:effectLst/>
        </p:spPr>
      </p:cxnSp>
      <p:sp>
        <p:nvSpPr>
          <p:cNvPr id="57" name="TextBox 56"/>
          <p:cNvSpPr txBox="1"/>
          <p:nvPr/>
        </p:nvSpPr>
        <p:spPr>
          <a:xfrm>
            <a:off x="310896" y="3031236"/>
            <a:ext cx="1819655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1" i="0">
                <a:solidFill>
                  <a:srgbClr val="183153"/>
                </a:solidFill>
                <a:latin typeface="Arial"/>
              </a:rPr>
              <a:t>Analog front end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10896" y="3150108"/>
            <a:ext cx="1819655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" b="0" i="0">
                <a:solidFill>
                  <a:srgbClr val="667085"/>
                </a:solidFill>
                <a:latin typeface="Arial"/>
              </a:rPr>
              <a:t>Sallen-Key LPF + TLV9062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2606039" y="3147822"/>
            <a:ext cx="640080" cy="0"/>
          </a:xfrm>
          <a:prstGeom prst="line">
            <a:avLst/>
          </a:prstGeom>
          <a:ln w="15875">
            <a:solidFill>
              <a:srgbClr val="183153"/>
            </a:solidFill>
          </a:ln>
          <a:effectLst/>
        </p:spPr>
      </p:cxnSp>
      <p:sp>
        <p:nvSpPr>
          <p:cNvPr id="60" name="Oval 59"/>
          <p:cNvSpPr/>
          <p:nvPr/>
        </p:nvSpPr>
        <p:spPr>
          <a:xfrm>
            <a:off x="2468879" y="3079241"/>
            <a:ext cx="137160" cy="137160"/>
          </a:xfrm>
          <a:prstGeom prst="ellipse">
            <a:avLst/>
          </a:prstGeom>
          <a:solidFill>
            <a:srgbClr val="183153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246119" y="3079241"/>
            <a:ext cx="137160" cy="137160"/>
          </a:xfrm>
          <a:prstGeom prst="ellipse">
            <a:avLst/>
          </a:prstGeom>
          <a:solidFill>
            <a:srgbClr val="183153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023359" y="3079241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9D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800599" y="3079241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9D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5577840" y="3079241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9D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274320" y="3278124"/>
            <a:ext cx="5760720" cy="0"/>
          </a:xfrm>
          <a:prstGeom prst="line">
            <a:avLst/>
          </a:prstGeom>
          <a:ln w="6350">
            <a:solidFill>
              <a:srgbClr val="D0D5DD"/>
            </a:solidFill>
          </a:ln>
          <a:effectLst/>
        </p:spPr>
      </p:cxnSp>
      <p:sp>
        <p:nvSpPr>
          <p:cNvPr id="66" name="TextBox 65"/>
          <p:cNvSpPr txBox="1"/>
          <p:nvPr/>
        </p:nvSpPr>
        <p:spPr>
          <a:xfrm>
            <a:off x="310896" y="3291840"/>
            <a:ext cx="1819655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1" i="0">
                <a:solidFill>
                  <a:srgbClr val="183153"/>
                </a:solidFill>
                <a:latin typeface="Arial"/>
              </a:rPr>
              <a:t>Payload enclosure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10896" y="3410712"/>
            <a:ext cx="1819655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" b="0" i="0">
                <a:solidFill>
                  <a:srgbClr val="667085"/>
                </a:solidFill>
                <a:latin typeface="Arial"/>
              </a:rPr>
              <a:t>acrylic hull · printed AUV pod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2606039" y="3408426"/>
            <a:ext cx="640080" cy="0"/>
          </a:xfrm>
          <a:prstGeom prst="line">
            <a:avLst/>
          </a:prstGeom>
          <a:ln w="15875">
            <a:solidFill>
              <a:srgbClr val="183153"/>
            </a:solidFill>
          </a:ln>
          <a:effectLst/>
        </p:spPr>
      </p:cxnSp>
      <p:sp>
        <p:nvSpPr>
          <p:cNvPr id="69" name="Oval 68"/>
          <p:cNvSpPr/>
          <p:nvPr/>
        </p:nvSpPr>
        <p:spPr>
          <a:xfrm>
            <a:off x="2468879" y="3339846"/>
            <a:ext cx="137160" cy="137160"/>
          </a:xfrm>
          <a:prstGeom prst="ellipse">
            <a:avLst/>
          </a:prstGeom>
          <a:solidFill>
            <a:srgbClr val="183153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>
            <a:off x="3383279" y="3408426"/>
            <a:ext cx="640080" cy="0"/>
          </a:xfrm>
          <a:prstGeom prst="line">
            <a:avLst/>
          </a:prstGeom>
          <a:ln w="15875">
            <a:solidFill>
              <a:srgbClr val="183153"/>
            </a:solidFill>
          </a:ln>
          <a:effectLst/>
        </p:spPr>
      </p:cxnSp>
      <p:sp>
        <p:nvSpPr>
          <p:cNvPr id="71" name="Oval 70"/>
          <p:cNvSpPr/>
          <p:nvPr/>
        </p:nvSpPr>
        <p:spPr>
          <a:xfrm>
            <a:off x="3246119" y="3339846"/>
            <a:ext cx="137160" cy="137160"/>
          </a:xfrm>
          <a:prstGeom prst="ellipse">
            <a:avLst/>
          </a:prstGeom>
          <a:solidFill>
            <a:srgbClr val="183153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023359" y="3339846"/>
            <a:ext cx="137160" cy="1371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4062679" y="3379165"/>
            <a:ext cx="58521" cy="58521"/>
          </a:xfrm>
          <a:prstGeom prst="ellipse">
            <a:avLst/>
          </a:prstGeom>
          <a:solidFill>
            <a:srgbClr val="1831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686299" y="3335274"/>
            <a:ext cx="3657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80" b="0" i="0">
                <a:solidFill>
                  <a:srgbClr val="C3C9D3"/>
                </a:solidFill>
                <a:latin typeface="Arial"/>
              </a:rPr>
              <a:t>n/a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63540" y="3335274"/>
            <a:ext cx="3657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80" b="0" i="0">
                <a:solidFill>
                  <a:srgbClr val="C3C9D3"/>
                </a:solidFill>
                <a:latin typeface="Arial"/>
              </a:rPr>
              <a:t>n/a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274320" y="3538728"/>
            <a:ext cx="5760720" cy="0"/>
          </a:xfrm>
          <a:prstGeom prst="line">
            <a:avLst/>
          </a:prstGeom>
          <a:ln w="6350">
            <a:solidFill>
              <a:srgbClr val="D0D5DD"/>
            </a:solidFill>
          </a:ln>
          <a:effectLst/>
        </p:spPr>
      </p:cxnSp>
      <p:sp>
        <p:nvSpPr>
          <p:cNvPr id="77" name="TextBox 76"/>
          <p:cNvSpPr txBox="1"/>
          <p:nvPr/>
        </p:nvSpPr>
        <p:spPr>
          <a:xfrm>
            <a:off x="310896" y="3552444"/>
            <a:ext cx="1819655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1" i="0">
                <a:solidFill>
                  <a:srgbClr val="183153"/>
                </a:solidFill>
                <a:latin typeface="Arial"/>
              </a:rPr>
              <a:t>Low-power operation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10896" y="3671315"/>
            <a:ext cx="1819655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" b="0" i="0">
                <a:solidFill>
                  <a:srgbClr val="667085"/>
                </a:solidFill>
                <a:latin typeface="Arial"/>
              </a:rPr>
              <a:t>DMA-driven, CPU free per sample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2606039" y="3669030"/>
            <a:ext cx="640080" cy="0"/>
          </a:xfrm>
          <a:prstGeom prst="line">
            <a:avLst/>
          </a:prstGeom>
          <a:ln w="15875">
            <a:solidFill>
              <a:srgbClr val="183153"/>
            </a:solidFill>
          </a:ln>
          <a:effectLst/>
        </p:spPr>
      </p:cxnSp>
      <p:sp>
        <p:nvSpPr>
          <p:cNvPr id="80" name="Oval 79"/>
          <p:cNvSpPr/>
          <p:nvPr/>
        </p:nvSpPr>
        <p:spPr>
          <a:xfrm>
            <a:off x="2468879" y="3600450"/>
            <a:ext cx="137160" cy="137160"/>
          </a:xfrm>
          <a:prstGeom prst="ellipse">
            <a:avLst/>
          </a:prstGeom>
          <a:solidFill>
            <a:srgbClr val="183153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246119" y="3600450"/>
            <a:ext cx="137160" cy="137160"/>
          </a:xfrm>
          <a:prstGeom prst="ellipse">
            <a:avLst/>
          </a:prstGeom>
          <a:solidFill>
            <a:srgbClr val="183153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909059" y="3595878"/>
            <a:ext cx="3657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80" b="0" i="0">
                <a:solidFill>
                  <a:srgbClr val="C3C9D3"/>
                </a:solidFill>
                <a:latin typeface="Arial"/>
              </a:rPr>
              <a:t>n/a</a:t>
            </a:r>
          </a:p>
        </p:txBody>
      </p:sp>
      <p:sp>
        <p:nvSpPr>
          <p:cNvPr id="83" name="Oval 82"/>
          <p:cNvSpPr/>
          <p:nvPr/>
        </p:nvSpPr>
        <p:spPr>
          <a:xfrm>
            <a:off x="4800599" y="3600450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9D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5577840" y="3600450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9D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>
            <a:off x="274320" y="3799332"/>
            <a:ext cx="5760720" cy="0"/>
          </a:xfrm>
          <a:prstGeom prst="line">
            <a:avLst/>
          </a:prstGeom>
          <a:ln w="6350">
            <a:solidFill>
              <a:srgbClr val="D0D5DD"/>
            </a:solidFill>
          </a:ln>
          <a:effectLst/>
        </p:spPr>
      </p:cxnSp>
      <p:sp>
        <p:nvSpPr>
          <p:cNvPr id="86" name="Oval 85"/>
          <p:cNvSpPr/>
          <p:nvPr/>
        </p:nvSpPr>
        <p:spPr>
          <a:xfrm>
            <a:off x="278892" y="3849624"/>
            <a:ext cx="137160" cy="137160"/>
          </a:xfrm>
          <a:prstGeom prst="ellipse">
            <a:avLst/>
          </a:prstGeom>
          <a:solidFill>
            <a:srgbClr val="183153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57200" y="3849624"/>
            <a:ext cx="29260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80" b="0" i="0">
                <a:solidFill>
                  <a:srgbClr val="667085"/>
                </a:solidFill>
                <a:latin typeface="Arial"/>
              </a:rPr>
              <a:t>reached</a:t>
            </a:r>
          </a:p>
        </p:txBody>
      </p:sp>
      <p:sp>
        <p:nvSpPr>
          <p:cNvPr id="88" name="Oval 87"/>
          <p:cNvSpPr/>
          <p:nvPr/>
        </p:nvSpPr>
        <p:spPr>
          <a:xfrm>
            <a:off x="1056132" y="3849624"/>
            <a:ext cx="137160" cy="1371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095451" y="3888943"/>
            <a:ext cx="58521" cy="58521"/>
          </a:xfrm>
          <a:prstGeom prst="ellipse">
            <a:avLst/>
          </a:prstGeom>
          <a:solidFill>
            <a:srgbClr val="1831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234439" y="3849624"/>
            <a:ext cx="29260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80" b="0" i="0">
                <a:solidFill>
                  <a:srgbClr val="667085"/>
                </a:solidFill>
                <a:latin typeface="Arial"/>
              </a:rPr>
              <a:t>partly (A0 shown in CLEAR; printed pod next)</a:t>
            </a:r>
          </a:p>
        </p:txBody>
      </p:sp>
      <p:sp>
        <p:nvSpPr>
          <p:cNvPr id="91" name="Oval 90"/>
          <p:cNvSpPr/>
          <p:nvPr/>
        </p:nvSpPr>
        <p:spPr>
          <a:xfrm>
            <a:off x="3570732" y="3849624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9D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749039" y="3849624"/>
            <a:ext cx="29260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80" b="0" i="0">
                <a:solidFill>
                  <a:srgbClr val="667085"/>
                </a:solidFill>
                <a:latin typeface="Arial"/>
              </a:rPr>
              <a:t>next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74320" y="4091939"/>
            <a:ext cx="5760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1" i="0">
                <a:solidFill>
                  <a:srgbClr val="183153"/>
                </a:solidFill>
                <a:latin typeface="Arial"/>
              </a:rPr>
              <a:t>PROVEN ON THE BOARD </a:t>
            </a:r>
            <a:r>
              <a:rPr sz="720" b="0" i="0">
                <a:solidFill>
                  <a:srgbClr val="667085"/>
                </a:solidFill>
                <a:latin typeface="Arial"/>
              </a:rPr>
              <a:t>· MCU ADC capture and firmware telemetry, not oscilloscope data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74320" y="4293107"/>
            <a:ext cx="1874519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274320" y="4293107"/>
            <a:ext cx="45720" cy="530352"/>
          </a:xfrm>
          <a:prstGeom prst="rect">
            <a:avLst/>
          </a:prstGeom>
          <a:solidFill>
            <a:srgbClr val="3B8C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02336" y="4320540"/>
            <a:ext cx="16916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83153"/>
                </a:solidFill>
                <a:latin typeface="Arial"/>
              </a:rPr>
              <a:t>42.00 kHz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02336" y="4553712"/>
            <a:ext cx="1691639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0" i="0">
                <a:solidFill>
                  <a:srgbClr val="263238"/>
                </a:solidFill>
                <a:latin typeface="Arial"/>
              </a:rPr>
              <a:t>captured centre = calculated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02336" y="4677155"/>
            <a:ext cx="1691639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" b="0" i="0">
                <a:solidFill>
                  <a:srgbClr val="667085"/>
                </a:solidFill>
                <a:latin typeface="Arial"/>
              </a:rPr>
              <a:t>LFM · Hann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217420" y="4293107"/>
            <a:ext cx="1874519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2217420" y="4293107"/>
            <a:ext cx="45720" cy="530352"/>
          </a:xfrm>
          <a:prstGeom prst="rect">
            <a:avLst/>
          </a:prstGeom>
          <a:solidFill>
            <a:srgbClr val="3B8C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345436" y="4320540"/>
            <a:ext cx="16916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83153"/>
                </a:solidFill>
                <a:latin typeface="Arial"/>
              </a:rPr>
              <a:t>−14.6 → −35 dB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345436" y="4553712"/>
            <a:ext cx="1691639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0" i="0">
                <a:solidFill>
                  <a:srgbClr val="263238"/>
                </a:solidFill>
                <a:latin typeface="Arial"/>
              </a:rPr>
              <a:t>spectral leakage, rect → Hann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345436" y="4677155"/>
            <a:ext cx="1691639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" b="0" i="0">
                <a:solidFill>
                  <a:srgbClr val="667085"/>
                </a:solidFill>
                <a:latin typeface="Arial"/>
              </a:rPr>
              <a:t>window effect captured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160520" y="4293107"/>
            <a:ext cx="1874519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4160520" y="4293107"/>
            <a:ext cx="45720" cy="530352"/>
          </a:xfrm>
          <a:prstGeom prst="rect">
            <a:avLst/>
          </a:prstGeom>
          <a:solidFill>
            <a:srgbClr val="3B8C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288536" y="4320540"/>
            <a:ext cx="16916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83153"/>
                </a:solidFill>
                <a:latin typeface="Arial"/>
              </a:rPr>
              <a:t>−21.4 dB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288536" y="4553712"/>
            <a:ext cx="1691639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0" i="0">
                <a:solidFill>
                  <a:srgbClr val="263238"/>
                </a:solidFill>
                <a:latin typeface="Arial"/>
              </a:rPr>
              <a:t>Barker-13 sidelobe captured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288536" y="4677155"/>
            <a:ext cx="1691639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" b="0" i="0">
                <a:solidFill>
                  <a:srgbClr val="667085"/>
                </a:solidFill>
                <a:latin typeface="Arial"/>
              </a:rPr>
              <a:t>−21.7 dB calculated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74320" y="4878323"/>
            <a:ext cx="1874519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274320" y="4878323"/>
            <a:ext cx="45720" cy="530352"/>
          </a:xfrm>
          <a:prstGeom prst="rect">
            <a:avLst/>
          </a:prstGeom>
          <a:solidFill>
            <a:srgbClr val="3B8C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02336" y="4905755"/>
            <a:ext cx="16916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83153"/>
                </a:solidFill>
                <a:latin typeface="Arial"/>
              </a:rPr>
              <a:t>330 / 330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02336" y="5138927"/>
            <a:ext cx="1691639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0" i="0">
                <a:solidFill>
                  <a:srgbClr val="263238"/>
                </a:solidFill>
                <a:latin typeface="Arial"/>
              </a:rPr>
              <a:t>commands acknowledged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02336" y="5262371"/>
            <a:ext cx="1691639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" b="0" i="0">
                <a:solidFill>
                  <a:srgbClr val="667085"/>
                </a:solidFill>
                <a:latin typeface="Arial"/>
              </a:rPr>
              <a:t>0 lost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2217420" y="4878323"/>
            <a:ext cx="1874519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17420" y="4878323"/>
            <a:ext cx="45720" cy="530352"/>
          </a:xfrm>
          <a:prstGeom prst="rect">
            <a:avLst/>
          </a:prstGeom>
          <a:solidFill>
            <a:srgbClr val="3B8C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345436" y="4905755"/>
            <a:ext cx="16916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83153"/>
                </a:solidFill>
                <a:latin typeface="Arial"/>
              </a:rP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345436" y="5138927"/>
            <a:ext cx="1691639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0" i="0">
                <a:solidFill>
                  <a:srgbClr val="263238"/>
                </a:solidFill>
                <a:latin typeface="Arial"/>
              </a:rPr>
              <a:t>DMA underruns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345436" y="5262371"/>
            <a:ext cx="1691639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" b="0" i="0">
                <a:solidFill>
                  <a:srgbClr val="667085"/>
                </a:solidFill>
                <a:latin typeface="Arial"/>
              </a:rPr>
              <a:t>across every capture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160520" y="4878323"/>
            <a:ext cx="1874519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4160520" y="4878323"/>
            <a:ext cx="45720" cy="530352"/>
          </a:xfrm>
          <a:prstGeom prst="rect">
            <a:avLst/>
          </a:prstGeom>
          <a:solidFill>
            <a:srgbClr val="3B8C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288536" y="4905755"/>
            <a:ext cx="16916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83153"/>
                </a:solidFill>
                <a:latin typeface="Arial"/>
              </a:rPr>
              <a:t>&lt; 100 ms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288536" y="5138927"/>
            <a:ext cx="1691639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0" i="0">
                <a:solidFill>
                  <a:srgbClr val="263238"/>
                </a:solidFill>
                <a:latin typeface="Arial"/>
              </a:rPr>
              <a:t>decision → new waveform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288536" y="5262371"/>
            <a:ext cx="1691639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" b="0" i="0">
                <a:solidFill>
                  <a:srgbClr val="667085"/>
                </a:solidFill>
                <a:latin typeface="Arial"/>
              </a:rPr>
              <a:t>86–97 ms measured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263640" y="1188720"/>
            <a:ext cx="4343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" b="1" i="0">
                <a:solidFill>
                  <a:srgbClr val="183153"/>
                </a:solidFill>
                <a:latin typeface="Arial"/>
              </a:rPr>
              <a:t>CHALLENGES &amp; RISKS  →  STRATEGIES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263640" y="1353312"/>
            <a:ext cx="43434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667085"/>
                </a:solidFill>
                <a:latin typeface="Arial"/>
              </a:rPr>
              <a:t>Each risk paired with how we overcome it</a:t>
            </a:r>
          </a:p>
        </p:txBody>
      </p:sp>
      <p:cxnSp>
        <p:nvCxnSpPr>
          <p:cNvPr id="126" name="Connector 125"/>
          <p:cNvCxnSpPr/>
          <p:nvPr/>
        </p:nvCxnSpPr>
        <p:spPr>
          <a:xfrm>
            <a:off x="6263640" y="1536192"/>
            <a:ext cx="4343400" cy="0"/>
          </a:xfrm>
          <a:prstGeom prst="line">
            <a:avLst/>
          </a:prstGeom>
          <a:ln w="9525">
            <a:solidFill>
              <a:srgbClr val="D0D5DD"/>
            </a:solidFill>
          </a:ln>
          <a:effectLst/>
        </p:spPr>
      </p:cxnSp>
      <p:sp>
        <p:nvSpPr>
          <p:cNvPr id="127" name="Rectangle 126"/>
          <p:cNvSpPr/>
          <p:nvPr/>
        </p:nvSpPr>
        <p:spPr>
          <a:xfrm>
            <a:off x="6263640" y="1645920"/>
            <a:ext cx="5715000" cy="237744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336792" y="1645920"/>
            <a:ext cx="21031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20" b="1" i="0">
                <a:solidFill>
                  <a:srgbClr val="183153"/>
                </a:solidFill>
                <a:latin typeface="Arial"/>
              </a:rPr>
              <a:t>CHALLENGE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686799" y="1645920"/>
            <a:ext cx="261518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20" b="1" i="0">
                <a:solidFill>
                  <a:srgbClr val="183153"/>
                </a:solidFill>
                <a:latin typeface="Arial"/>
              </a:rPr>
              <a:t>STRATEGY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1320272" y="1645920"/>
            <a:ext cx="6400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20" b="1" i="0">
                <a:solidFill>
                  <a:srgbClr val="183153"/>
                </a:solidFill>
                <a:latin typeface="Arial"/>
              </a:rPr>
              <a:t>STATUS</a:t>
            </a:r>
          </a:p>
        </p:txBody>
      </p:sp>
      <p:cxnSp>
        <p:nvCxnSpPr>
          <p:cNvPr id="131" name="Connector 130"/>
          <p:cNvCxnSpPr/>
          <p:nvPr/>
        </p:nvCxnSpPr>
        <p:spPr>
          <a:xfrm>
            <a:off x="6263640" y="1883664"/>
            <a:ext cx="5715000" cy="0"/>
          </a:xfrm>
          <a:prstGeom prst="line">
            <a:avLst/>
          </a:prstGeom>
          <a:ln w="9525">
            <a:solidFill>
              <a:srgbClr val="183153"/>
            </a:solidFill>
          </a:ln>
          <a:effectLst/>
        </p:spPr>
      </p:cxnSp>
      <p:sp>
        <p:nvSpPr>
          <p:cNvPr id="132" name="TextBox 131"/>
          <p:cNvSpPr txBox="1"/>
          <p:nvPr/>
        </p:nvSpPr>
        <p:spPr>
          <a:xfrm>
            <a:off x="6336792" y="1947672"/>
            <a:ext cx="2011679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1" i="0">
                <a:solidFill>
                  <a:srgbClr val="183153"/>
                </a:solidFill>
                <a:latin typeface="Arial"/>
              </a:rPr>
              <a:t>Frequency scale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336792" y="2112264"/>
            <a:ext cx="20116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7085"/>
                </a:solidFill>
                <a:latin typeface="Arial"/>
              </a:rPr>
              <a:t>PS cites 100–500 kHz; bench transducer is 40 kHz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8412480" y="2137410"/>
            <a:ext cx="201167" cy="0"/>
          </a:xfrm>
          <a:prstGeom prst="line">
            <a:avLst/>
          </a:prstGeom>
          <a:ln w="15875">
            <a:solidFill>
              <a:srgbClr val="3B8C7A"/>
            </a:solidFill>
            <a:tailEnd type="triangle" w="sm" len="sm"/>
          </a:ln>
          <a:effectLst/>
        </p:spPr>
      </p:cxnSp>
      <p:sp>
        <p:nvSpPr>
          <p:cNvPr id="135" name="TextBox 134"/>
          <p:cNvSpPr txBox="1"/>
          <p:nvPr/>
        </p:nvSpPr>
        <p:spPr>
          <a:xfrm>
            <a:off x="8686799" y="1956816"/>
            <a:ext cx="26151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80" b="0" i="0">
                <a:solidFill>
                  <a:srgbClr val="263238"/>
                </a:solidFill>
                <a:latin typeface="Arial"/>
              </a:rPr>
              <a:t>Frequency-agnostic policy table; external high-speed DAC on the same TIM + DMA path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1338560" y="2039112"/>
            <a:ext cx="603504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8A7BA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1338560" y="2039112"/>
            <a:ext cx="603504" cy="192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 i="0">
                <a:solidFill>
                  <a:srgbClr val="8A7BAF"/>
                </a:solidFill>
                <a:latin typeface="Arial"/>
              </a:rPr>
              <a:t>SCALE PATH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6263640" y="2391156"/>
            <a:ext cx="5715000" cy="0"/>
          </a:xfrm>
          <a:prstGeom prst="line">
            <a:avLst/>
          </a:prstGeom>
          <a:ln w="6350">
            <a:solidFill>
              <a:srgbClr val="D0D5DD"/>
            </a:solidFill>
          </a:ln>
          <a:effectLst/>
        </p:spPr>
      </p:cxnSp>
      <p:sp>
        <p:nvSpPr>
          <p:cNvPr id="139" name="TextBox 138"/>
          <p:cNvSpPr txBox="1"/>
          <p:nvPr/>
        </p:nvSpPr>
        <p:spPr>
          <a:xfrm>
            <a:off x="6336792" y="2455164"/>
            <a:ext cx="2011679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1" i="0">
                <a:solidFill>
                  <a:srgbClr val="183153"/>
                </a:solidFill>
                <a:latin typeface="Arial"/>
              </a:rPr>
              <a:t>No oscilloscope on hand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336792" y="2619756"/>
            <a:ext cx="20116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7085"/>
                </a:solidFill>
                <a:latin typeface="Arial"/>
              </a:rPr>
              <a:t>external validation not yet possible</a:t>
            </a:r>
          </a:p>
        </p:txBody>
      </p:sp>
      <p:cxnSp>
        <p:nvCxnSpPr>
          <p:cNvPr id="141" name="Connector 140"/>
          <p:cNvCxnSpPr/>
          <p:nvPr/>
        </p:nvCxnSpPr>
        <p:spPr>
          <a:xfrm>
            <a:off x="8412480" y="2644902"/>
            <a:ext cx="201167" cy="0"/>
          </a:xfrm>
          <a:prstGeom prst="line">
            <a:avLst/>
          </a:prstGeom>
          <a:ln w="15875">
            <a:solidFill>
              <a:srgbClr val="3B8C7A"/>
            </a:solidFill>
            <a:tailEnd type="triangle" w="sm" len="sm"/>
          </a:ln>
          <a:effectLst/>
        </p:spPr>
      </p:cxnSp>
      <p:sp>
        <p:nvSpPr>
          <p:cNvPr id="142" name="TextBox 141"/>
          <p:cNvSpPr txBox="1"/>
          <p:nvPr/>
        </p:nvSpPr>
        <p:spPr>
          <a:xfrm>
            <a:off x="8686799" y="2464308"/>
            <a:ext cx="26151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80" b="0" i="0">
                <a:solidFill>
                  <a:srgbClr val="263238"/>
                </a:solidFill>
                <a:latin typeface="Arial"/>
              </a:rPr>
              <a:t>On-board ADC + DMA capture with FFT and matched filter now; lab scope at judging, CSV import ready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1338560" y="2546604"/>
            <a:ext cx="603504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1338560" y="2546604"/>
            <a:ext cx="603504" cy="192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 i="0">
                <a:solidFill>
                  <a:srgbClr val="183153"/>
                </a:solidFill>
                <a:latin typeface="Arial"/>
              </a:rPr>
              <a:t>IN PLACE</a:t>
            </a:r>
          </a:p>
        </p:txBody>
      </p:sp>
      <p:cxnSp>
        <p:nvCxnSpPr>
          <p:cNvPr id="145" name="Connector 144"/>
          <p:cNvCxnSpPr/>
          <p:nvPr/>
        </p:nvCxnSpPr>
        <p:spPr>
          <a:xfrm>
            <a:off x="6263640" y="2898648"/>
            <a:ext cx="5715000" cy="0"/>
          </a:xfrm>
          <a:prstGeom prst="line">
            <a:avLst/>
          </a:prstGeom>
          <a:ln w="6350">
            <a:solidFill>
              <a:srgbClr val="D0D5DD"/>
            </a:solidFill>
          </a:ln>
          <a:effectLst/>
        </p:spPr>
      </p:cxnSp>
      <p:sp>
        <p:nvSpPr>
          <p:cNvPr id="146" name="TextBox 145"/>
          <p:cNvSpPr txBox="1"/>
          <p:nvPr/>
        </p:nvSpPr>
        <p:spPr>
          <a:xfrm>
            <a:off x="6336792" y="2962656"/>
            <a:ext cx="2011679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1" i="0">
                <a:solidFill>
                  <a:srgbClr val="183153"/>
                </a:solidFill>
                <a:latin typeface="Arial"/>
              </a:rPr>
              <a:t>Analog stage not yet built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336792" y="3127248"/>
            <a:ext cx="20116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7085"/>
                </a:solidFill>
                <a:latin typeface="Arial"/>
              </a:rPr>
              <a:t>filter + op-amp still to assemble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8412480" y="3152394"/>
            <a:ext cx="201167" cy="0"/>
          </a:xfrm>
          <a:prstGeom prst="line">
            <a:avLst/>
          </a:prstGeom>
          <a:ln w="15875">
            <a:solidFill>
              <a:srgbClr val="3B8C7A"/>
            </a:solidFill>
            <a:tailEnd type="triangle" w="sm" len="sm"/>
          </a:ln>
          <a:effectLst/>
        </p:spPr>
      </p:cxnSp>
      <p:sp>
        <p:nvSpPr>
          <p:cNvPr id="149" name="TextBox 148"/>
          <p:cNvSpPr txBox="1"/>
          <p:nvPr/>
        </p:nvSpPr>
        <p:spPr>
          <a:xfrm>
            <a:off x="8686799" y="2971800"/>
            <a:ext cx="26151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80" b="0" i="0">
                <a:solidFill>
                  <a:srgbClr val="263238"/>
                </a:solidFill>
                <a:latin typeface="Arial"/>
              </a:rPr>
              <a:t>Two independent models agree within 0.02 dB in band; stock-value parts list ready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11338560" y="3054096"/>
            <a:ext cx="603504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8A7BA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1338560" y="3054096"/>
            <a:ext cx="603504" cy="192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 i="0">
                <a:solidFill>
                  <a:srgbClr val="8A7BAF"/>
                </a:solidFill>
                <a:latin typeface="Arial"/>
              </a:rPr>
              <a:t>NEXT BUILD</a:t>
            </a:r>
          </a:p>
        </p:txBody>
      </p:sp>
      <p:cxnSp>
        <p:nvCxnSpPr>
          <p:cNvPr id="152" name="Connector 151"/>
          <p:cNvCxnSpPr/>
          <p:nvPr/>
        </p:nvCxnSpPr>
        <p:spPr>
          <a:xfrm>
            <a:off x="6263640" y="3406140"/>
            <a:ext cx="5715000" cy="0"/>
          </a:xfrm>
          <a:prstGeom prst="line">
            <a:avLst/>
          </a:prstGeom>
          <a:ln w="6350">
            <a:solidFill>
              <a:srgbClr val="D0D5DD"/>
            </a:solidFill>
          </a:ln>
          <a:effectLst/>
        </p:spPr>
      </p:cxnSp>
      <p:sp>
        <p:nvSpPr>
          <p:cNvPr id="153" name="TextBox 152"/>
          <p:cNvSpPr txBox="1"/>
          <p:nvPr/>
        </p:nvSpPr>
        <p:spPr>
          <a:xfrm>
            <a:off x="6336792" y="3470148"/>
            <a:ext cx="2011679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1" i="0">
                <a:solidFill>
                  <a:srgbClr val="183153"/>
                </a:solidFill>
                <a:latin typeface="Arial"/>
              </a:rPr>
              <a:t>Noisy or drifting sensor input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336792" y="3634740"/>
            <a:ext cx="20116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7085"/>
                </a:solidFill>
                <a:latin typeface="Arial"/>
              </a:rPr>
              <a:t>a bad reading could change the ping</a:t>
            </a:r>
          </a:p>
        </p:txBody>
      </p:sp>
      <p:cxnSp>
        <p:nvCxnSpPr>
          <p:cNvPr id="155" name="Connector 154"/>
          <p:cNvCxnSpPr/>
          <p:nvPr/>
        </p:nvCxnSpPr>
        <p:spPr>
          <a:xfrm>
            <a:off x="8412480" y="3659886"/>
            <a:ext cx="201167" cy="0"/>
          </a:xfrm>
          <a:prstGeom prst="line">
            <a:avLst/>
          </a:prstGeom>
          <a:ln w="15875">
            <a:solidFill>
              <a:srgbClr val="3B8C7A"/>
            </a:solidFill>
            <a:tailEnd type="triangle" w="sm" len="sm"/>
          </a:ln>
          <a:effectLst/>
        </p:spPr>
      </p:cxnSp>
      <p:sp>
        <p:nvSpPr>
          <p:cNvPr id="156" name="TextBox 155"/>
          <p:cNvSpPr txBox="1"/>
          <p:nvPr/>
        </p:nvSpPr>
        <p:spPr>
          <a:xfrm>
            <a:off x="8686799" y="3479292"/>
            <a:ext cx="26151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80" b="0" i="0">
                <a:solidFill>
                  <a:srgbClr val="263238"/>
                </a:solidFill>
                <a:latin typeface="Arial"/>
              </a:rPr>
              <a:t>Smoothing, hysteresis, stale and out-of-range rejection; TDS labelled as a proxy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1338560" y="3561588"/>
            <a:ext cx="603504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1338560" y="3561588"/>
            <a:ext cx="603504" cy="192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 i="0">
                <a:solidFill>
                  <a:srgbClr val="183153"/>
                </a:solidFill>
                <a:latin typeface="Arial"/>
              </a:rPr>
              <a:t>IN PLACE</a:t>
            </a:r>
          </a:p>
        </p:txBody>
      </p:sp>
      <p:cxnSp>
        <p:nvCxnSpPr>
          <p:cNvPr id="159" name="Connector 158"/>
          <p:cNvCxnSpPr/>
          <p:nvPr/>
        </p:nvCxnSpPr>
        <p:spPr>
          <a:xfrm>
            <a:off x="6263640" y="3913632"/>
            <a:ext cx="5715000" cy="0"/>
          </a:xfrm>
          <a:prstGeom prst="line">
            <a:avLst/>
          </a:prstGeom>
          <a:ln w="6350">
            <a:solidFill>
              <a:srgbClr val="D0D5DD"/>
            </a:solidFill>
          </a:ln>
          <a:effectLst/>
        </p:spPr>
      </p:cxnSp>
      <p:sp>
        <p:nvSpPr>
          <p:cNvPr id="160" name="TextBox 159"/>
          <p:cNvSpPr txBox="1"/>
          <p:nvPr/>
        </p:nvSpPr>
        <p:spPr>
          <a:xfrm>
            <a:off x="6336792" y="3977640"/>
            <a:ext cx="2011679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1" i="0">
                <a:solidFill>
                  <a:srgbClr val="183153"/>
                </a:solidFill>
                <a:latin typeface="Arial"/>
              </a:rPr>
              <a:t>CPU load and battery budget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336792" y="4142232"/>
            <a:ext cx="20116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7085"/>
                </a:solidFill>
                <a:latin typeface="Arial"/>
              </a:rPr>
              <a:t>per-sample trig math is expensive</a:t>
            </a:r>
          </a:p>
        </p:txBody>
      </p:sp>
      <p:cxnSp>
        <p:nvCxnSpPr>
          <p:cNvPr id="162" name="Connector 161"/>
          <p:cNvCxnSpPr/>
          <p:nvPr/>
        </p:nvCxnSpPr>
        <p:spPr>
          <a:xfrm>
            <a:off x="8412480" y="4167378"/>
            <a:ext cx="201167" cy="0"/>
          </a:xfrm>
          <a:prstGeom prst="line">
            <a:avLst/>
          </a:prstGeom>
          <a:ln w="15875">
            <a:solidFill>
              <a:srgbClr val="3B8C7A"/>
            </a:solidFill>
            <a:tailEnd type="triangle" w="sm" len="sm"/>
          </a:ln>
          <a:effectLst/>
        </p:spPr>
      </p:cxnSp>
      <p:sp>
        <p:nvSpPr>
          <p:cNvPr id="163" name="TextBox 162"/>
          <p:cNvSpPr txBox="1"/>
          <p:nvPr/>
        </p:nvSpPr>
        <p:spPr>
          <a:xfrm>
            <a:off x="8686799" y="3986784"/>
            <a:ext cx="26151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80" b="0" i="0">
                <a:solidFill>
                  <a:srgbClr val="263238"/>
                </a:solidFill>
                <a:latin typeface="Arial"/>
              </a:rPr>
              <a:t>Next pulse computed between pings, DMA streams it; inline-meter power test planned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11338560" y="4069080"/>
            <a:ext cx="603504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11338560" y="4069080"/>
            <a:ext cx="603504" cy="192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 i="0">
                <a:solidFill>
                  <a:srgbClr val="183153"/>
                </a:solidFill>
                <a:latin typeface="Arial"/>
              </a:rPr>
              <a:t>IN PLACE</a:t>
            </a:r>
          </a:p>
        </p:txBody>
      </p:sp>
      <p:cxnSp>
        <p:nvCxnSpPr>
          <p:cNvPr id="166" name="Connector 165"/>
          <p:cNvCxnSpPr/>
          <p:nvPr/>
        </p:nvCxnSpPr>
        <p:spPr>
          <a:xfrm>
            <a:off x="6263640" y="4421124"/>
            <a:ext cx="5715000" cy="0"/>
          </a:xfrm>
          <a:prstGeom prst="line">
            <a:avLst/>
          </a:prstGeom>
          <a:ln w="6350">
            <a:solidFill>
              <a:srgbClr val="D0D5DD"/>
            </a:solidFill>
          </a:ln>
          <a:effectLst/>
        </p:spPr>
      </p:cxnSp>
      <p:sp>
        <p:nvSpPr>
          <p:cNvPr id="167" name="TextBox 166"/>
          <p:cNvSpPr txBox="1"/>
          <p:nvPr/>
        </p:nvSpPr>
        <p:spPr>
          <a:xfrm>
            <a:off x="6336792" y="4485132"/>
            <a:ext cx="2011679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1" i="0">
                <a:solidFill>
                  <a:srgbClr val="183153"/>
                </a:solidFill>
                <a:latin typeface="Arial"/>
              </a:rPr>
              <a:t>Loss of control link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336792" y="4649724"/>
            <a:ext cx="20116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7085"/>
                </a:solidFill>
                <a:latin typeface="Arial"/>
              </a:rPr>
              <a:t>ping must never run unattended</a:t>
            </a:r>
          </a:p>
        </p:txBody>
      </p:sp>
      <p:cxnSp>
        <p:nvCxnSpPr>
          <p:cNvPr id="169" name="Connector 168"/>
          <p:cNvCxnSpPr/>
          <p:nvPr/>
        </p:nvCxnSpPr>
        <p:spPr>
          <a:xfrm>
            <a:off x="8412480" y="4674870"/>
            <a:ext cx="201167" cy="0"/>
          </a:xfrm>
          <a:prstGeom prst="line">
            <a:avLst/>
          </a:prstGeom>
          <a:ln w="15875">
            <a:solidFill>
              <a:srgbClr val="3B8C7A"/>
            </a:solidFill>
            <a:tailEnd type="triangle" w="sm" len="sm"/>
          </a:ln>
          <a:effectLst/>
        </p:spPr>
      </p:cxnSp>
      <p:sp>
        <p:nvSpPr>
          <p:cNvPr id="170" name="TextBox 169"/>
          <p:cNvSpPr txBox="1"/>
          <p:nvPr/>
        </p:nvSpPr>
        <p:spPr>
          <a:xfrm>
            <a:off x="8686799" y="4494276"/>
            <a:ext cx="26151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80" b="0" i="0">
                <a:solidFill>
                  <a:srgbClr val="263238"/>
                </a:solidFill>
                <a:latin typeface="Arial"/>
              </a:rPr>
              <a:t>Output off at boot, 2 s control lease auto-stop, DAC parked mid-scale on any fault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11338560" y="4576572"/>
            <a:ext cx="603504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1338560" y="4576572"/>
            <a:ext cx="603504" cy="192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 i="0">
                <a:solidFill>
                  <a:srgbClr val="183153"/>
                </a:solidFill>
                <a:latin typeface="Arial"/>
              </a:rPr>
              <a:t>IN PLACE</a:t>
            </a:r>
          </a:p>
        </p:txBody>
      </p:sp>
      <p:cxnSp>
        <p:nvCxnSpPr>
          <p:cNvPr id="173" name="Connector 172"/>
          <p:cNvCxnSpPr/>
          <p:nvPr/>
        </p:nvCxnSpPr>
        <p:spPr>
          <a:xfrm>
            <a:off x="6263640" y="4928616"/>
            <a:ext cx="5715000" cy="0"/>
          </a:xfrm>
          <a:prstGeom prst="line">
            <a:avLst/>
          </a:prstGeom>
          <a:ln w="6350">
            <a:solidFill>
              <a:srgbClr val="D0D5DD"/>
            </a:solidFill>
          </a:ln>
          <a:effectLst/>
        </p:spPr>
      </p:cxnSp>
      <p:sp>
        <p:nvSpPr>
          <p:cNvPr id="174" name="TextBox 173"/>
          <p:cNvSpPr txBox="1"/>
          <p:nvPr/>
        </p:nvSpPr>
        <p:spPr>
          <a:xfrm>
            <a:off x="6336792" y="4992624"/>
            <a:ext cx="2011679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1" i="0">
                <a:solidFill>
                  <a:srgbClr val="183153"/>
                </a:solidFill>
                <a:latin typeface="Arial"/>
              </a:rPr>
              <a:t>Water ingress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6336792" y="5157216"/>
            <a:ext cx="20116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7085"/>
                </a:solidFill>
                <a:latin typeface="Arial"/>
              </a:rPr>
              <a:t>payload must survive the hull slot</a:t>
            </a:r>
          </a:p>
        </p:txBody>
      </p:sp>
      <p:cxnSp>
        <p:nvCxnSpPr>
          <p:cNvPr id="176" name="Connector 175"/>
          <p:cNvCxnSpPr/>
          <p:nvPr/>
        </p:nvCxnSpPr>
        <p:spPr>
          <a:xfrm>
            <a:off x="8412480" y="5182362"/>
            <a:ext cx="201167" cy="0"/>
          </a:xfrm>
          <a:prstGeom prst="line">
            <a:avLst/>
          </a:prstGeom>
          <a:ln w="15875">
            <a:solidFill>
              <a:srgbClr val="3B8C7A"/>
            </a:solidFill>
            <a:tailEnd type="triangle" w="sm" len="sm"/>
          </a:ln>
          <a:effectLst/>
        </p:spPr>
      </p:cxnSp>
      <p:sp>
        <p:nvSpPr>
          <p:cNvPr id="177" name="TextBox 176"/>
          <p:cNvSpPr txBox="1"/>
          <p:nvPr/>
        </p:nvSpPr>
        <p:spPr>
          <a:xfrm>
            <a:off x="8686799" y="5001768"/>
            <a:ext cx="26151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80" b="0" i="0">
                <a:solidFill>
                  <a:srgbClr val="263238"/>
                </a:solidFill>
                <a:latin typeface="Arial"/>
              </a:rPr>
              <a:t>O-ring end caps; parametric pod compiled and fit-checked in OpenSCAD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11338560" y="5084064"/>
            <a:ext cx="603504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8A7BA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11338560" y="5084064"/>
            <a:ext cx="603504" cy="192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 i="0">
                <a:solidFill>
                  <a:srgbClr val="8A7BAF"/>
                </a:solidFill>
                <a:latin typeface="Arial"/>
              </a:rPr>
              <a:t>DESIGNED</a:t>
            </a:r>
          </a:p>
        </p:txBody>
      </p:sp>
      <p:cxnSp>
        <p:nvCxnSpPr>
          <p:cNvPr id="180" name="Connector 179"/>
          <p:cNvCxnSpPr/>
          <p:nvPr/>
        </p:nvCxnSpPr>
        <p:spPr>
          <a:xfrm>
            <a:off x="6263640" y="5436108"/>
            <a:ext cx="5715000" cy="0"/>
          </a:xfrm>
          <a:prstGeom prst="line">
            <a:avLst/>
          </a:prstGeom>
          <a:ln w="6350">
            <a:solidFill>
              <a:srgbClr val="D0D5DD"/>
            </a:solidFill>
          </a:ln>
          <a:effectLst/>
        </p:spPr>
      </p:cxnSp>
      <p:sp>
        <p:nvSpPr>
          <p:cNvPr id="181" name="Rectangle 180"/>
          <p:cNvSpPr/>
          <p:nvPr/>
        </p:nvSpPr>
        <p:spPr>
          <a:xfrm>
            <a:off x="274320" y="5532120"/>
            <a:ext cx="117043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365760" y="5532120"/>
            <a:ext cx="109728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83153"/>
                </a:solidFill>
                <a:latin typeface="Arial"/>
              </a:rPr>
              <a:t>VIABILITY</a:t>
            </a:r>
          </a:p>
        </p:txBody>
      </p:sp>
      <p:cxnSp>
        <p:nvCxnSpPr>
          <p:cNvPr id="183" name="Connector 182"/>
          <p:cNvCxnSpPr/>
          <p:nvPr/>
        </p:nvCxnSpPr>
        <p:spPr>
          <a:xfrm>
            <a:off x="1325880" y="5605272"/>
            <a:ext cx="0" cy="292608"/>
          </a:xfrm>
          <a:prstGeom prst="line">
            <a:avLst/>
          </a:prstGeom>
          <a:ln w="9525">
            <a:solidFill>
              <a:srgbClr val="D0D5DD"/>
            </a:solidFill>
          </a:ln>
          <a:effectLst/>
        </p:spPr>
      </p:cxnSp>
      <p:sp>
        <p:nvSpPr>
          <p:cNvPr id="184" name="TextBox 183"/>
          <p:cNvSpPr txBox="1"/>
          <p:nvPr/>
        </p:nvSpPr>
        <p:spPr>
          <a:xfrm>
            <a:off x="1444752" y="5596128"/>
            <a:ext cx="2560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83153"/>
                </a:solidFill>
                <a:latin typeface="Arial"/>
              </a:rPr>
              <a:t>Low-cost COTS</a:t>
            </a:r>
          </a:p>
          <a:p>
            <a:pPr algn="l"/>
            <a:r>
              <a:rPr sz="720" b="0" i="0">
                <a:solidFill>
                  <a:srgbClr val="263238"/>
                </a:solidFill>
                <a:latin typeface="Arial"/>
              </a:rPr>
              <a:t>STM32 Nucleo · TLV9062 · standard passives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4078224" y="5596128"/>
            <a:ext cx="2560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83153"/>
                </a:solidFill>
                <a:latin typeface="Arial"/>
              </a:rPr>
              <a:t>Software-defined</a:t>
            </a:r>
          </a:p>
          <a:p>
            <a:pPr algn="l"/>
            <a:r>
              <a:rPr sz="720" b="0" i="0">
                <a:solidFill>
                  <a:srgbClr val="263238"/>
                </a:solidFill>
                <a:latin typeface="Arial"/>
              </a:rPr>
              <a:t>new waveform or policy = firmware update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6711696" y="5596128"/>
            <a:ext cx="2560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83153"/>
                </a:solidFill>
                <a:latin typeface="Arial"/>
              </a:rPr>
              <a:t>Scalable</a:t>
            </a:r>
          </a:p>
          <a:p>
            <a:pPr algn="l"/>
            <a:r>
              <a:rPr sz="720" b="0" i="0">
                <a:solidFill>
                  <a:srgbClr val="263238"/>
                </a:solidFill>
                <a:latin typeface="Arial"/>
              </a:rPr>
              <a:t>same architecture → 100–500 kHz with an external DAC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9345168" y="5596128"/>
            <a:ext cx="2560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83153"/>
                </a:solidFill>
                <a:latin typeface="Arial"/>
              </a:rPr>
              <a:t>Maintainable</a:t>
            </a:r>
          </a:p>
          <a:p>
            <a:pPr algn="l"/>
            <a:r>
              <a:rPr sz="720" b="0" i="0">
                <a:solidFill>
                  <a:srgbClr val="263238"/>
                </a:solidFill>
                <a:latin typeface="Arial"/>
              </a:rPr>
              <a:t>161 automated tests guard every change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325</Words>
  <PresentationFormat>Custom</PresentationFormat>
  <Paragraphs>62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Times New Roman</vt:lpstr>
      <vt:lpstr>Garamond</vt:lpstr>
      <vt:lpstr>Oswald</vt:lpstr>
      <vt:lpstr>Noto Sans Symbols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INDIA HACKATHON 2026</dc:title>
  <dc:creator>Crowdfunder</dc:creator>
  <cp:lastModifiedBy>DELL</cp:lastModifiedBy>
  <cp:revision>3</cp:revision>
  <dcterms:created xsi:type="dcterms:W3CDTF">2013-12-12T18:46:50Z</dcterms:created>
  <dcterms:modified xsi:type="dcterms:W3CDTF">2026-08-20T05:29:49Z</dcterms:modified>
</cp:coreProperties>
</file>