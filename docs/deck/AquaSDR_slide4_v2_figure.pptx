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9" r:id="rId5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188720"/>
            <a:ext cx="10287000" cy="932688"/>
          </a:xfrm>
          <a:prstGeom prst="roundRect">
            <a:avLst>
              <a:gd name="adj" fmla="val 12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350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3153"/>
                </a:solidFill>
                <a:latin typeface="Arial"/>
              </a:rPr>
              <a:t>FEASIBLE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rial"/>
              </a:rPr>
              <a:t>Already running on our STM32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Arial"/>
              </a:rPr>
              <a:t>payload, built from shelf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6624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42.00 kHz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624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chirp lands exactly on target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53712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754879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−35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leakage with Hann, from −14.6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01968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03136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&lt; 100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water change → new ping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224" y="1371600"/>
            <a:ext cx="0" cy="566928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851391" y="1316736"/>
            <a:ext cx="1755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3B8C7A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1" y="17556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263238"/>
                </a:solidFill>
                <a:latin typeface="Arial"/>
              </a:rPr>
              <a:t>DMA dropouts in every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04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CHALLENGES </a:t>
            </a:r>
            <a:r>
              <a:rPr sz="1200" b="0">
                <a:solidFill>
                  <a:srgbClr val="667085"/>
                </a:solidFill>
                <a:latin typeface="Arial"/>
              </a:rPr>
              <a:t>and how we beat them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274320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0800000">
            <a:off x="274320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5415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Signal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Stepped DAC output and sidelobes blur the echo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Hann / Hamming / Blackman windows + 70.7 kHz low-pass filter and op-amp 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→  WINDOWS PROVEN · FILTER NEXT</a:t>
            </a:r>
          </a:p>
        </p:txBody>
      </p:sp>
      <p:sp>
        <p:nvSpPr>
          <p:cNvPr id="29" name="Round Same Side Corner Rectangle 28"/>
          <p:cNvSpPr/>
          <p:nvPr/>
        </p:nvSpPr>
        <p:spPr>
          <a:xfrm>
            <a:off x="3234232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0800000">
            <a:off x="3234232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5328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5400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5400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Frequency &amp; transducer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5400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PS band is 100–500 kHz; our bench runs at 40 kHz</a:t>
            </a:r>
          </a:p>
        </p:txBody>
      </p:sp>
      <p:sp>
        <p:nvSpPr>
          <p:cNvPr id="35" name="Oval 34"/>
          <p:cNvSpPr/>
          <p:nvPr/>
        </p:nvSpPr>
        <p:spPr>
          <a:xfrm>
            <a:off x="3435400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5400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0888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5400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Same timer + DMA engine drives an external high-speed DAC and a matched driver stage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35400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5400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→  SCALE PATH READY</a:t>
            </a:r>
          </a:p>
        </p:txBody>
      </p:sp>
      <p:sp>
        <p:nvSpPr>
          <p:cNvPr id="41" name="Round Same Side Corner Rectangle 40"/>
          <p:cNvSpPr/>
          <p:nvPr/>
        </p:nvSpPr>
        <p:spPr>
          <a:xfrm>
            <a:off x="6194145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0800000">
            <a:off x="6194145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5241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5313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5313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Bad sensor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5313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One noisy reading could flip the ping</a:t>
            </a:r>
          </a:p>
        </p:txBody>
      </p:sp>
      <p:sp>
        <p:nvSpPr>
          <p:cNvPr id="47" name="Oval 46"/>
          <p:cNvSpPr/>
          <p:nvPr/>
        </p:nvSpPr>
        <p:spPr>
          <a:xfrm>
            <a:off x="6395313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5313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0801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5313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Smoothing, hysteresis and out-of-range rejection before any change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95313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F3F0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5313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✓  IN PLACE</a:t>
            </a:r>
          </a:p>
        </p:txBody>
      </p:sp>
      <p:sp>
        <p:nvSpPr>
          <p:cNvPr id="53" name="Round Same Side Corner Rectangle 52"/>
          <p:cNvSpPr/>
          <p:nvPr/>
        </p:nvSpPr>
        <p:spPr>
          <a:xfrm>
            <a:off x="9154058" y="2670048"/>
            <a:ext cx="2779776" cy="129844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0800000">
            <a:off x="9154058" y="3968496"/>
            <a:ext cx="2779776" cy="155448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65154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>
                <a:solidFill>
                  <a:srgbClr val="2E4A70"/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55226" y="2852928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AFC0D6"/>
                </a:solidFill>
                <a:latin typeface="Arial"/>
              </a:rPr>
              <a:t>RISK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55226" y="3072384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Power &amp; safety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5226" y="3419856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6DEEA"/>
                </a:solidFill>
                <a:latin typeface="Arial"/>
              </a:rPr>
              <a:t>Long missions drain the battery; a ping must never run away</a:t>
            </a:r>
          </a:p>
        </p:txBody>
      </p:sp>
      <p:sp>
        <p:nvSpPr>
          <p:cNvPr id="59" name="Oval 58"/>
          <p:cNvSpPr/>
          <p:nvPr/>
        </p:nvSpPr>
        <p:spPr>
          <a:xfrm>
            <a:off x="9355226" y="3785615"/>
            <a:ext cx="365760" cy="365760"/>
          </a:xfrm>
          <a:prstGeom prst="ellipse">
            <a:avLst/>
          </a:prstGeom>
          <a:solidFill>
            <a:srgbClr val="3B8C7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5226" y="37856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0714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B8C7A"/>
                </a:solidFill>
                <a:latin typeface="Arial"/>
              </a:rPr>
              <a:t>STRATEGY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55226" y="4279392"/>
            <a:ext cx="24140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3153"/>
                </a:solidFill>
                <a:latin typeface="Arial"/>
              </a:rPr>
              <a:t>DMA streams the pulse so the CPU stays free; 2 s auto-stop lease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55226" y="51389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F3F0"/>
          </a:solidFill>
          <a:ln w="9525">
            <a:solidFill>
              <a:srgbClr val="3B8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55226" y="5138928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60" b="1">
                <a:solidFill>
                  <a:srgbClr val="3B8C7A"/>
                </a:solidFill>
                <a:latin typeface="Arial"/>
              </a:rPr>
              <a:t>✓  IN PLACE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64184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3153"/>
                </a:solidFill>
                <a:latin typeface="Arial"/>
              </a:rPr>
              <a:t>VIABLE</a:t>
            </a:r>
          </a:p>
        </p:txBody>
      </p:sp>
      <p:sp>
        <p:nvSpPr>
          <p:cNvPr id="66" name="Oval 65"/>
          <p:cNvSpPr/>
          <p:nvPr/>
        </p:nvSpPr>
        <p:spPr>
          <a:xfrm>
            <a:off x="1417320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18488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Low cost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off-the-shelf STM32 + op-amp</a:t>
            </a:r>
          </a:p>
        </p:txBody>
      </p:sp>
      <p:sp>
        <p:nvSpPr>
          <p:cNvPr id="68" name="Oval 67"/>
          <p:cNvSpPr/>
          <p:nvPr/>
        </p:nvSpPr>
        <p:spPr>
          <a:xfrm>
            <a:off x="4050791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1959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Software-defined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new ping = firmware update</a:t>
            </a:r>
          </a:p>
        </p:txBody>
      </p:sp>
      <p:sp>
        <p:nvSpPr>
          <p:cNvPr id="70" name="Oval 69"/>
          <p:cNvSpPr/>
          <p:nvPr/>
        </p:nvSpPr>
        <p:spPr>
          <a:xfrm>
            <a:off x="6684264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85431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Scalable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same design → 100–500 kHz</a:t>
            </a:r>
          </a:p>
        </p:txBody>
      </p:sp>
      <p:sp>
        <p:nvSpPr>
          <p:cNvPr id="72" name="Oval 71"/>
          <p:cNvSpPr/>
          <p:nvPr/>
        </p:nvSpPr>
        <p:spPr>
          <a:xfrm>
            <a:off x="9317736" y="5815584"/>
            <a:ext cx="109728" cy="109728"/>
          </a:xfrm>
          <a:prstGeom prst="ellipse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18904" y="567842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83153"/>
                </a:solidFill>
                <a:latin typeface="Arial"/>
              </a:rPr>
              <a:t>Reliable</a:t>
            </a:r>
          </a:p>
          <a:p>
            <a:pPr algn="l"/>
            <a:r>
              <a:rPr sz="880" b="0">
                <a:solidFill>
                  <a:srgbClr val="667085"/>
                </a:solidFill>
                <a:latin typeface="Arial"/>
              </a:rPr>
              <a:t>161 automated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