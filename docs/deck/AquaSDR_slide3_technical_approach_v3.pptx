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8" r:id="rId4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jp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AquaSDR · TECHNICAL APPROACH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8" name="TextBox 117"/>
          <p:cNvSpPr txBox="1"/>
          <p:nvPr/>
        </p:nvSpPr>
        <p:spPr>
          <a:xfrm>
            <a:off x="1828800" y="850392"/>
            <a:ext cx="8503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67085"/>
                </a:solidFill>
                <a:latin typeface="Arial"/>
              </a:rPr>
              <a:t>Adaptive Software-Defined Sonar Transmitter for AUVs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1188720"/>
            <a:ext cx="2971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83153"/>
                </a:solidFill>
                <a:latin typeface="Arial"/>
              </a:rPr>
              <a:t>SENSE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4320" y="1344168"/>
            <a:ext cx="2971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667085"/>
                </a:solidFill>
                <a:latin typeface="Arial"/>
              </a:rPr>
              <a:t>Real environment · real sensors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74320" y="1536192"/>
            <a:ext cx="297180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pic>
        <p:nvPicPr>
          <p:cNvPr id="122" name="Picture 121" descr="senso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627632"/>
            <a:ext cx="1691640" cy="1860990"/>
          </a:xfrm>
          <a:prstGeom prst="rect">
            <a:avLst/>
          </a:prstGeom>
          <a:ln w="9525">
            <a:solidFill>
              <a:srgbClr val="183153"/>
            </a:solidFill>
          </a:ln>
          <a:effectLst/>
        </p:spPr>
      </p:pic>
      <p:sp>
        <p:nvSpPr>
          <p:cNvPr id="123" name="TextBox 122"/>
          <p:cNvSpPr txBox="1"/>
          <p:nvPr/>
        </p:nvSpPr>
        <p:spPr>
          <a:xfrm>
            <a:off x="182880" y="175564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90" b="1" i="0">
                <a:solidFill>
                  <a:srgbClr val="183153"/>
                </a:solidFill>
                <a:latin typeface="Arial"/>
              </a:rPr>
              <a:t>TDS / SALINITY PROXY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399032" y="1828800"/>
            <a:ext cx="639361" cy="310875"/>
          </a:xfrm>
          <a:prstGeom prst="line">
            <a:avLst/>
          </a:prstGeom>
          <a:ln w="7620">
            <a:solidFill>
              <a:srgbClr val="183153"/>
            </a:solidFill>
          </a:ln>
          <a:effectLst/>
        </p:spPr>
      </p:cxnSp>
      <p:sp>
        <p:nvSpPr>
          <p:cNvPr id="125" name="Oval 124"/>
          <p:cNvSpPr/>
          <p:nvPr/>
        </p:nvSpPr>
        <p:spPr>
          <a:xfrm>
            <a:off x="2006389" y="2107671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82880" y="2084831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90" b="1" i="0">
                <a:solidFill>
                  <a:srgbClr val="183153"/>
                </a:solidFill>
                <a:latin typeface="Arial"/>
              </a:rPr>
              <a:t>HC-SR04 · AIR RANGE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399032" y="2157984"/>
            <a:ext cx="887065" cy="214768"/>
          </a:xfrm>
          <a:prstGeom prst="line">
            <a:avLst/>
          </a:prstGeom>
          <a:ln w="7620">
            <a:solidFill>
              <a:srgbClr val="183153"/>
            </a:solidFill>
          </a:ln>
          <a:effectLst/>
        </p:spPr>
      </p:cxnSp>
      <p:sp>
        <p:nvSpPr>
          <p:cNvPr id="128" name="Oval 127"/>
          <p:cNvSpPr/>
          <p:nvPr/>
        </p:nvSpPr>
        <p:spPr>
          <a:xfrm>
            <a:off x="2254093" y="234074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82880" y="2414016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90" b="1" i="0">
                <a:solidFill>
                  <a:srgbClr val="183153"/>
                </a:solidFill>
                <a:latin typeface="Arial"/>
              </a:rPr>
              <a:t>TURBIDITY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399032" y="2487168"/>
            <a:ext cx="670777" cy="133153"/>
          </a:xfrm>
          <a:prstGeom prst="line">
            <a:avLst/>
          </a:prstGeom>
          <a:ln w="7620">
            <a:solidFill>
              <a:srgbClr val="183153"/>
            </a:solidFill>
          </a:ln>
          <a:effectLst/>
        </p:spPr>
      </p:cxnSp>
      <p:sp>
        <p:nvSpPr>
          <p:cNvPr id="131" name="Oval 130"/>
          <p:cNvSpPr/>
          <p:nvPr/>
        </p:nvSpPr>
        <p:spPr>
          <a:xfrm>
            <a:off x="2037805" y="2588317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82880" y="2743200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90" b="1" i="0">
                <a:solidFill>
                  <a:srgbClr val="183153"/>
                </a:solidFill>
                <a:latin typeface="Arial"/>
              </a:rPr>
              <a:t>DS18B20 TEMPERATURE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99032" y="2588922"/>
            <a:ext cx="1322059" cy="227430"/>
          </a:xfrm>
          <a:prstGeom prst="line">
            <a:avLst/>
          </a:prstGeom>
          <a:ln w="7620">
            <a:solidFill>
              <a:srgbClr val="183153"/>
            </a:solidFill>
          </a:ln>
          <a:effectLst/>
        </p:spPr>
      </p:cxnSp>
      <p:sp>
        <p:nvSpPr>
          <p:cNvPr id="134" name="Oval 133"/>
          <p:cNvSpPr/>
          <p:nvPr/>
        </p:nvSpPr>
        <p:spPr>
          <a:xfrm>
            <a:off x="2689087" y="255691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82880" y="3072384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90" b="1" i="0">
                <a:solidFill>
                  <a:srgbClr val="183153"/>
                </a:solidFill>
                <a:latin typeface="Arial"/>
              </a:rPr>
              <a:t>PRESSURE / DEPTH</a:t>
            </a:r>
          </a:p>
        </p:txBody>
      </p:sp>
      <p:cxnSp>
        <p:nvCxnSpPr>
          <p:cNvPr id="136" name="Connector 135"/>
          <p:cNvCxnSpPr/>
          <p:nvPr/>
        </p:nvCxnSpPr>
        <p:spPr>
          <a:xfrm flipV="1">
            <a:off x="1399032" y="2992277"/>
            <a:ext cx="1260435" cy="153259"/>
          </a:xfrm>
          <a:prstGeom prst="line">
            <a:avLst/>
          </a:prstGeom>
          <a:ln w="7620">
            <a:solidFill>
              <a:srgbClr val="183153"/>
            </a:solidFill>
          </a:ln>
          <a:effectLst/>
        </p:spPr>
      </p:cxnSp>
      <p:sp>
        <p:nvSpPr>
          <p:cNvPr id="137" name="Oval 136"/>
          <p:cNvSpPr/>
          <p:nvPr/>
        </p:nvSpPr>
        <p:spPr>
          <a:xfrm>
            <a:off x="2627463" y="2960273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417320" y="3516054"/>
            <a:ext cx="16916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3B8C7A"/>
                </a:solidFill>
                <a:latin typeface="Arial"/>
              </a:rPr>
              <a:t>ADC · 1-Wire · I²C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4320" y="3712463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Also on board  </a:t>
            </a:r>
            <a:r>
              <a:rPr sz="720" b="0" i="0">
                <a:solidFill>
                  <a:srgbClr val="667085"/>
                </a:solidFill>
                <a:latin typeface="Arial"/>
              </a:rPr>
              <a:t>BMP390 · IMU + magnetometer (I²C) · INA219 ×2 mounted, not commissioned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4320" y="4114800"/>
            <a:ext cx="2971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40" b="1" i="0">
                <a:solidFill>
                  <a:srgbClr val="183153"/>
                </a:solidFill>
                <a:latin typeface="Arial"/>
              </a:rPr>
              <a:t>ONE POLICY · TWO INPUTS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4297680"/>
            <a:ext cx="1325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3B8C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74320" y="4325112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60" b="1" i="0">
                <a:solidFill>
                  <a:srgbClr val="183153"/>
                </a:solidFill>
                <a:latin typeface="Arial"/>
              </a:rPr>
              <a:t>A0 sensor</a:t>
            </a:r>
          </a:p>
          <a:p>
            <a:pPr algn="ctr"/>
            <a:r>
              <a:rPr sz="690" b="0" i="0">
                <a:solidFill>
                  <a:srgbClr val="667085"/>
                </a:solidFill>
                <a:latin typeface="Arial"/>
              </a:rPr>
              <a:t>TDS_PROXY → ADC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691640" y="4297680"/>
            <a:ext cx="1325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3B8C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691640" y="4325112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60" b="1" i="0">
                <a:solidFill>
                  <a:srgbClr val="183153"/>
                </a:solidFill>
                <a:latin typeface="Arial"/>
              </a:rPr>
              <a:t>Web command</a:t>
            </a:r>
          </a:p>
          <a:p>
            <a:pPr algn="ctr"/>
            <a:r>
              <a:rPr sz="690" b="0" i="0">
                <a:solidFill>
                  <a:srgbClr val="667085"/>
                </a:solidFill>
                <a:latin typeface="Arial"/>
              </a:rPr>
              <a:t>console → UART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937259" y="4663440"/>
            <a:ext cx="0" cy="128016"/>
          </a:xfrm>
          <a:prstGeom prst="line">
            <a:avLst/>
          </a:prstGeom>
          <a:ln w="11430">
            <a:solidFill>
              <a:srgbClr val="3B8C7A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2354580" y="4663440"/>
            <a:ext cx="0" cy="128016"/>
          </a:xfrm>
          <a:prstGeom prst="line">
            <a:avLst/>
          </a:prstGeom>
          <a:ln w="11430">
            <a:solidFill>
              <a:srgbClr val="3B8C7A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937259" y="4791456"/>
            <a:ext cx="2409445" cy="0"/>
          </a:xfrm>
          <a:prstGeom prst="line">
            <a:avLst/>
          </a:prstGeom>
          <a:ln w="11430">
            <a:solidFill>
              <a:srgbClr val="3B8C7A"/>
            </a:solidFill>
          </a:ln>
          <a:effectLst/>
        </p:spPr>
      </p:cxnSp>
      <p:sp>
        <p:nvSpPr>
          <p:cNvPr id="148" name="TextBox 147"/>
          <p:cNvSpPr txBox="1"/>
          <p:nvPr/>
        </p:nvSpPr>
        <p:spPr>
          <a:xfrm>
            <a:off x="3474720" y="1188720"/>
            <a:ext cx="42062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83153"/>
                </a:solidFill>
                <a:latin typeface="Arial"/>
              </a:rPr>
              <a:t>DECIDE · SYNTHESISE · STREAM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474720" y="1344168"/>
            <a:ext cx="42062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667085"/>
                </a:solidFill>
                <a:latin typeface="Arial"/>
              </a:rPr>
              <a:t>STM32F446RE embedded control · methodology &amp; process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3474720" y="1536192"/>
            <a:ext cx="4206239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51" name="Rectangle 150"/>
          <p:cNvSpPr/>
          <p:nvPr/>
        </p:nvSpPr>
        <p:spPr>
          <a:xfrm>
            <a:off x="3474720" y="1609344"/>
            <a:ext cx="4206240" cy="3639312"/>
          </a:xfrm>
          <a:prstGeom prst="rect">
            <a:avLst/>
          </a:prstGeom>
          <a:solidFill>
            <a:srgbClr val="F3F6F9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474720" y="1609344"/>
            <a:ext cx="4206240" cy="246888"/>
          </a:xfrm>
          <a:prstGeom prst="rect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74720" y="1609344"/>
            <a:ext cx="42062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THE NEXT PING IS COMPUTED ON THE MCU</a:t>
            </a:r>
          </a:p>
        </p:txBody>
      </p:sp>
      <p:pic>
        <p:nvPicPr>
          <p:cNvPr id="154" name="Picture 153" descr="b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929384"/>
            <a:ext cx="2761488" cy="1021751"/>
          </a:xfrm>
          <a:prstGeom prst="rect">
            <a:avLst/>
          </a:prstGeom>
          <a:ln w="9525">
            <a:solidFill>
              <a:srgbClr val="183153"/>
            </a:solidFill>
          </a:ln>
          <a:effectLst/>
        </p:spPr>
      </p:pic>
      <p:cxnSp>
        <p:nvCxnSpPr>
          <p:cNvPr id="155" name="Connector 154"/>
          <p:cNvCxnSpPr/>
          <p:nvPr/>
        </p:nvCxnSpPr>
        <p:spPr>
          <a:xfrm flipV="1">
            <a:off x="4190329" y="2045863"/>
            <a:ext cx="143524" cy="619182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</p:cxnSp>
      <p:sp>
        <p:nvSpPr>
          <p:cNvPr id="156" name="Oval 155"/>
          <p:cNvSpPr/>
          <p:nvPr/>
        </p:nvSpPr>
        <p:spPr>
          <a:xfrm>
            <a:off x="4301849" y="2013859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649004" y="2665045"/>
            <a:ext cx="1082649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649004" y="2669617"/>
            <a:ext cx="1082649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1" i="0">
                <a:solidFill>
                  <a:srgbClr val="183153"/>
                </a:solidFill>
                <a:latin typeface="Arial"/>
              </a:rPr>
              <a:t>STM32 NUCLEO-F446RE</a:t>
            </a:r>
          </a:p>
        </p:txBody>
      </p:sp>
      <p:cxnSp>
        <p:nvCxnSpPr>
          <p:cNvPr id="159" name="Connector 158"/>
          <p:cNvCxnSpPr/>
          <p:nvPr/>
        </p:nvCxnSpPr>
        <p:spPr>
          <a:xfrm flipH="1">
            <a:off x="5452256" y="2147210"/>
            <a:ext cx="331689" cy="620010"/>
          </a:xfrm>
          <a:prstGeom prst="line">
            <a:avLst/>
          </a:prstGeom>
          <a:ln w="11430">
            <a:solidFill>
              <a:srgbClr val="FFFFFF"/>
            </a:solidFill>
          </a:ln>
          <a:effectLst/>
        </p:spPr>
      </p:cxnSp>
      <p:sp>
        <p:nvSpPr>
          <p:cNvPr id="160" name="Oval 159"/>
          <p:cNvSpPr/>
          <p:nvPr/>
        </p:nvSpPr>
        <p:spPr>
          <a:xfrm>
            <a:off x="5420252" y="273521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140208" y="2000906"/>
            <a:ext cx="1287475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140208" y="2005478"/>
            <a:ext cx="1287475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" b="1" i="0">
                <a:solidFill>
                  <a:srgbClr val="183153"/>
                </a:solidFill>
                <a:latin typeface="Arial"/>
              </a:rPr>
              <a:t>Sensor interface boards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400800" y="1929384"/>
            <a:ext cx="1188720" cy="102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64808" y="1956815"/>
            <a:ext cx="1097280" cy="9668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40" b="1" i="0">
                <a:solidFill>
                  <a:srgbClr val="183153"/>
                </a:solidFill>
                <a:latin typeface="Arial"/>
              </a:rPr>
              <a:t>MCU ADC CAPTURE</a:t>
            </a:r>
          </a:p>
          <a:p>
            <a:pPr algn="l"/>
            <a:r>
              <a:rPr sz="660" b="0" i="1">
                <a:solidFill>
                  <a:srgbClr val="667085"/>
                </a:solidFill>
                <a:latin typeface="Arial"/>
              </a:rPr>
              <a:t>LFM example · on-board</a:t>
            </a:r>
          </a:p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Centre </a:t>
            </a:r>
            <a:r>
              <a:rPr sz="700" b="1" i="0">
                <a:solidFill>
                  <a:srgbClr val="263238"/>
                </a:solidFill>
                <a:latin typeface="Arial"/>
              </a:rPr>
              <a:t>42 kHz</a:t>
            </a:r>
          </a:p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Sweep </a:t>
            </a:r>
            <a:r>
              <a:rPr sz="700" b="1" i="0">
                <a:solidFill>
                  <a:srgbClr val="263238"/>
                </a:solidFill>
                <a:latin typeface="Arial"/>
              </a:rPr>
              <a:t>4 kHz</a:t>
            </a:r>
          </a:p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Pulse </a:t>
            </a:r>
            <a:r>
              <a:rPr sz="700" b="1" i="0">
                <a:solidFill>
                  <a:srgbClr val="263238"/>
                </a:solidFill>
                <a:latin typeface="Arial"/>
              </a:rPr>
              <a:t>2 ms</a:t>
            </a:r>
            <a:r>
              <a:rPr sz="700" b="0" i="0">
                <a:solidFill>
                  <a:srgbClr val="667085"/>
                </a:solidFill>
                <a:latin typeface="Arial"/>
              </a:rPr>
              <a:t>  Hann</a:t>
            </a:r>
          </a:p>
          <a:p>
            <a:pPr algn="l"/>
            <a:r>
              <a:rPr sz="700" b="1" i="0">
                <a:solidFill>
                  <a:srgbClr val="263238"/>
                </a:solidFill>
                <a:latin typeface="Arial"/>
              </a:rPr>
              <a:t>330/330</a:t>
            </a:r>
            <a:r>
              <a:rPr sz="680" b="0" i="0">
                <a:solidFill>
                  <a:srgbClr val="667085"/>
                </a:solidFill>
                <a:latin typeface="Arial"/>
              </a:rPr>
              <a:t> cmds ACKed</a:t>
            </a:r>
          </a:p>
          <a:p>
            <a:pPr algn="l"/>
            <a:r>
              <a:rPr sz="700" b="1" i="0">
                <a:solidFill>
                  <a:srgbClr val="263238"/>
                </a:solidFill>
                <a:latin typeface="Arial"/>
              </a:rPr>
              <a:t>0</a:t>
            </a:r>
            <a:r>
              <a:rPr sz="680" b="0" i="0">
                <a:solidFill>
                  <a:srgbClr val="667085"/>
                </a:solidFill>
                <a:latin typeface="Arial"/>
              </a:rPr>
              <a:t> DMA underruns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3712464" y="3273552"/>
            <a:ext cx="0" cy="1463040"/>
          </a:xfrm>
          <a:prstGeom prst="line">
            <a:avLst/>
          </a:prstGeom>
          <a:ln w="12700">
            <a:solidFill>
              <a:srgbClr val="D0D5DD"/>
            </a:solidFill>
          </a:ln>
          <a:effectLst/>
        </p:spPr>
      </p:cxnSp>
      <p:sp>
        <p:nvSpPr>
          <p:cNvPr id="166" name="Rectangle 165"/>
          <p:cNvSpPr/>
          <p:nvPr/>
        </p:nvSpPr>
        <p:spPr>
          <a:xfrm>
            <a:off x="3593592" y="3072384"/>
            <a:ext cx="237744" cy="18288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611880" y="3081528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01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931920" y="30815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>
                <a:solidFill>
                  <a:srgbClr val="183153"/>
                </a:solidFill>
                <a:latin typeface="Arial"/>
              </a:rPr>
              <a:t>ACQUIRE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931920" y="3246120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30" b="0" i="0">
                <a:solidFill>
                  <a:srgbClr val="667085"/>
                </a:solidFill>
                <a:latin typeface="Arial"/>
              </a:rPr>
              <a:t>ADC · 1-Wire · I²C · stale / out-of-range inputs rejected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593592" y="3493008"/>
            <a:ext cx="237744" cy="18288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611880" y="3502152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02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931920" y="3502152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>
                <a:solidFill>
                  <a:srgbClr val="183153"/>
                </a:solidFill>
                <a:latin typeface="Arial"/>
              </a:rPr>
              <a:t>DECIDE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931920" y="3666744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30" b="0" i="0">
                <a:solidFill>
                  <a:srgbClr val="667085"/>
                </a:solidFill>
                <a:latin typeface="Arial"/>
              </a:rPr>
              <a:t>smoothing filter + hysteresis → CLEAR / TRANSITION / MURKY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593592" y="3913632"/>
            <a:ext cx="237744" cy="18288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611880" y="3922776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931920" y="3922776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>
                <a:solidFill>
                  <a:srgbClr val="183153"/>
                </a:solidFill>
                <a:latin typeface="Arial"/>
              </a:rPr>
              <a:t>SYNTHESISE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931920" y="4087368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30" b="0" i="0">
                <a:solidFill>
                  <a:srgbClr val="667085"/>
                </a:solidFill>
                <a:latin typeface="Arial"/>
              </a:rPr>
              <a:t>LFM · geometric sweep · Barker-13 × Hann / Hamming / Blackman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593592" y="4334256"/>
            <a:ext cx="237744" cy="18288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611880" y="4343400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04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931920" y="4343400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>
                <a:solidFill>
                  <a:srgbClr val="183153"/>
                </a:solidFill>
                <a:latin typeface="Arial"/>
              </a:rPr>
              <a:t>STREAM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931920" y="4507992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30" b="0" i="0">
                <a:solidFill>
                  <a:srgbClr val="667085"/>
                </a:solidFill>
                <a:latin typeface="Arial"/>
              </a:rPr>
              <a:t>TIM6 + DMA → 12-bit DAC1 / PA4 · 1 MS/s · 0 underruns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593592" y="4754880"/>
            <a:ext cx="237744" cy="18288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611880" y="47640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83153"/>
                </a:solidFill>
                <a:latin typeface="Arial"/>
              </a:rPr>
              <a:t>06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931920" y="4764024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>
                <a:solidFill>
                  <a:srgbClr val="183153"/>
                </a:solidFill>
                <a:latin typeface="Arial"/>
              </a:rPr>
              <a:t>SELF-VALIDATE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931920" y="4928616"/>
            <a:ext cx="3703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30" b="0" i="0">
                <a:solidFill>
                  <a:srgbClr val="667085"/>
                </a:solidFill>
                <a:latin typeface="Arial"/>
              </a:rPr>
              <a:t>ADC + DMA capture of the DAC output → FFT · spectrogram · matched filter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3529584" y="4425696"/>
            <a:ext cx="0" cy="420624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3529584" y="4846320"/>
            <a:ext cx="64008" cy="0"/>
          </a:xfrm>
          <a:prstGeom prst="line">
            <a:avLst/>
          </a:prstGeom>
          <a:ln w="9525">
            <a:solidFill>
              <a:srgbClr val="183153"/>
            </a:solidFill>
            <a:tailEnd type="triangle" w="sm" len="sm"/>
          </a:ln>
          <a:effectLst/>
        </p:spPr>
      </p:cxnSp>
      <p:cxnSp>
        <p:nvCxnSpPr>
          <p:cNvPr id="188" name="Connector 187"/>
          <p:cNvCxnSpPr/>
          <p:nvPr/>
        </p:nvCxnSpPr>
        <p:spPr>
          <a:xfrm>
            <a:off x="3108960" y="3163824"/>
            <a:ext cx="365760" cy="0"/>
          </a:xfrm>
          <a:prstGeom prst="line">
            <a:avLst/>
          </a:prstGeom>
          <a:ln w="13970">
            <a:solidFill>
              <a:srgbClr val="3B8C7A"/>
            </a:solidFill>
            <a:tailEnd type="triangle" w="sm" len="sm"/>
          </a:ln>
          <a:effectLst/>
        </p:spPr>
      </p:cxnSp>
      <p:cxnSp>
        <p:nvCxnSpPr>
          <p:cNvPr id="189" name="Connector 188"/>
          <p:cNvCxnSpPr/>
          <p:nvPr/>
        </p:nvCxnSpPr>
        <p:spPr>
          <a:xfrm flipV="1">
            <a:off x="3346704" y="3584448"/>
            <a:ext cx="0" cy="1207008"/>
          </a:xfrm>
          <a:prstGeom prst="line">
            <a:avLst/>
          </a:prstGeom>
          <a:ln w="13970">
            <a:solidFill>
              <a:srgbClr val="3B8C7A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3346704" y="3584448"/>
            <a:ext cx="128016" cy="0"/>
          </a:xfrm>
          <a:prstGeom prst="line">
            <a:avLst/>
          </a:prstGeom>
          <a:ln w="13970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7909560" y="1188720"/>
            <a:ext cx="2697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83153"/>
                </a:solidFill>
                <a:latin typeface="Arial"/>
              </a:rPr>
              <a:t>NEXT PING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1344168"/>
            <a:ext cx="2697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667085"/>
                </a:solidFill>
                <a:latin typeface="Arial"/>
              </a:rPr>
              <a:t>Adaptive waveform parameters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7909560" y="1536192"/>
            <a:ext cx="269748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7909560" y="1645920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63238"/>
                </a:solidFill>
                <a:latin typeface="Arial"/>
              </a:rPr>
              <a:t/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695944" y="164592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" b="1" i="0">
                <a:solidFill>
                  <a:srgbClr val="183153"/>
                </a:solidFill>
                <a:latin typeface="Arial"/>
              </a:rPr>
              <a:t>CLEAR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336024" y="164592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" b="1" i="0">
                <a:solidFill>
                  <a:srgbClr val="183153"/>
                </a:solidFill>
                <a:latin typeface="Arial"/>
              </a:rPr>
              <a:t>TRANSITION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976104" y="164592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" b="1" i="0">
                <a:solidFill>
                  <a:srgbClr val="183153"/>
                </a:solidFill>
                <a:latin typeface="Arial"/>
              </a:rPr>
              <a:t>MURKY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7909560" y="1828800"/>
            <a:ext cx="2706624" cy="0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sp>
        <p:nvSpPr>
          <p:cNvPr id="199" name="TextBox 198"/>
          <p:cNvSpPr txBox="1"/>
          <p:nvPr/>
        </p:nvSpPr>
        <p:spPr>
          <a:xfrm>
            <a:off x="7909560" y="1874519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CENTRE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695944" y="187451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42 kHz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336024" y="187451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40 kHz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976104" y="187451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38 kHz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7909560" y="2048255"/>
            <a:ext cx="2706624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04" name="TextBox 203"/>
          <p:cNvSpPr txBox="1"/>
          <p:nvPr/>
        </p:nvSpPr>
        <p:spPr>
          <a:xfrm>
            <a:off x="7909560" y="2057400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BANDWIDTH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695944" y="205740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4 kHz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336024" y="205740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2 kHz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976104" y="205740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1 kHz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7909560" y="2231136"/>
            <a:ext cx="2706624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09" name="TextBox 208"/>
          <p:cNvSpPr txBox="1"/>
          <p:nvPr/>
        </p:nvSpPr>
        <p:spPr>
          <a:xfrm>
            <a:off x="7909560" y="2240279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PULSE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695944" y="224027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2 ms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336024" y="224027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4 ms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976104" y="2240279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8 ms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7909560" y="2414015"/>
            <a:ext cx="2706624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14" name="TextBox 213"/>
          <p:cNvSpPr txBox="1"/>
          <p:nvPr/>
        </p:nvSpPr>
        <p:spPr>
          <a:xfrm>
            <a:off x="7909560" y="2423160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AMPLITUDE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695944" y="24231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35 %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9336024" y="24231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50 %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976104" y="242316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263238"/>
                </a:solidFill>
                <a:latin typeface="Arial"/>
              </a:rPr>
              <a:t>62 %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7909560" y="2596896"/>
            <a:ext cx="2706624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19" name="TextBox 218"/>
          <p:cNvSpPr txBox="1"/>
          <p:nvPr/>
        </p:nvSpPr>
        <p:spPr>
          <a:xfrm>
            <a:off x="7909560" y="2660904"/>
            <a:ext cx="4069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40" b="0" i="1">
                <a:solidFill>
                  <a:srgbClr val="667085"/>
                </a:solidFill>
                <a:latin typeface="Arial"/>
              </a:rPr>
              <a:t>Water condition changes → next-ping parameters change</a:t>
            </a:r>
          </a:p>
        </p:txBody>
      </p:sp>
      <p:cxnSp>
        <p:nvCxnSpPr>
          <p:cNvPr id="220" name="Connector 219"/>
          <p:cNvCxnSpPr/>
          <p:nvPr/>
        </p:nvCxnSpPr>
        <p:spPr>
          <a:xfrm>
            <a:off x="7680960" y="3584448"/>
            <a:ext cx="118871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 flipV="1">
            <a:off x="7799831" y="2194560"/>
            <a:ext cx="0" cy="1389888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>
            <a:off x="7799831" y="2194560"/>
            <a:ext cx="82296" cy="0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23" name="Rectangle 222"/>
          <p:cNvSpPr/>
          <p:nvPr/>
        </p:nvSpPr>
        <p:spPr>
          <a:xfrm>
            <a:off x="7909560" y="2871216"/>
            <a:ext cx="4069080" cy="932688"/>
          </a:xfrm>
          <a:prstGeom prst="rect">
            <a:avLst/>
          </a:prstGeom>
          <a:solidFill>
            <a:srgbClr val="FFFFFF"/>
          </a:solidFill>
          <a:ln w="11430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982712" y="2916936"/>
            <a:ext cx="3200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05  CONDITION · ANALOG FRONT END</a:t>
            </a:r>
          </a:p>
        </p:txBody>
      </p:sp>
      <p:pic>
        <p:nvPicPr>
          <p:cNvPr id="225" name="Picture 224" descr="afe_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3136392"/>
            <a:ext cx="2194560" cy="602074"/>
          </a:xfrm>
          <a:prstGeom prst="rect">
            <a:avLst/>
          </a:prstGeom>
          <a:ln w="3175">
            <a:solidFill>
              <a:srgbClr val="FFFFFF"/>
            </a:solidFill>
          </a:ln>
          <a:effectLst/>
        </p:spPr>
      </p:pic>
      <p:sp>
        <p:nvSpPr>
          <p:cNvPr id="226" name="TextBox 225"/>
          <p:cNvSpPr txBox="1"/>
          <p:nvPr/>
        </p:nvSpPr>
        <p:spPr>
          <a:xfrm>
            <a:off x="10287000" y="313639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2nd-order low-pass filter</a:t>
            </a:r>
          </a:p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70.7 kHz design target</a:t>
            </a:r>
          </a:p>
          <a:p>
            <a:pPr algn="l"/>
            <a:r>
              <a:rPr sz="720" b="1" i="0">
                <a:solidFill>
                  <a:srgbClr val="183153"/>
                </a:solidFill>
                <a:latin typeface="Arial"/>
              </a:rPr>
              <a:t>TLV9062 ×1.5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287000" y="3593592"/>
            <a:ext cx="1645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1" i="0">
                <a:solidFill>
                  <a:srgbClr val="8A7BAF"/>
                </a:solidFill>
                <a:latin typeface="Arial"/>
              </a:rPr>
              <a:t>DESIGNED · NEXT BUILD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7680960" y="4425696"/>
            <a:ext cx="155448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7836408" y="3639312"/>
            <a:ext cx="0" cy="786384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>
            <a:off x="7836408" y="3639312"/>
            <a:ext cx="73152" cy="0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9944100" y="3803904"/>
            <a:ext cx="0" cy="100583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pic>
        <p:nvPicPr>
          <p:cNvPr id="232" name="Picture 231" descr="payloa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3913632"/>
            <a:ext cx="4069080" cy="1089445"/>
          </a:xfrm>
          <a:prstGeom prst="rect">
            <a:avLst/>
          </a:prstGeom>
          <a:ln w="12700">
            <a:solidFill>
              <a:srgbClr val="183153"/>
            </a:solidFill>
          </a:ln>
          <a:effectLst/>
        </p:spPr>
      </p:pic>
      <p:sp>
        <p:nvSpPr>
          <p:cNvPr id="233" name="TextBox 232"/>
          <p:cNvSpPr txBox="1"/>
          <p:nvPr/>
        </p:nvSpPr>
        <p:spPr>
          <a:xfrm>
            <a:off x="7909560" y="5030509"/>
            <a:ext cx="4069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AQUASDR PAYLOAD · PHYSICAL PROTOTYPE</a:t>
            </a:r>
            <a:r>
              <a:rPr sz="720" b="0" i="0">
                <a:solidFill>
                  <a:srgbClr val="667085"/>
                </a:solidFill>
                <a:latin typeface="Arial"/>
              </a:rPr>
              <a:t>   acrylic payload hull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909560" y="5195101"/>
            <a:ext cx="4069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90" b="0" i="1">
                <a:solidFill>
                  <a:srgbClr val="667085"/>
                </a:solidFill>
                <a:latin typeface="Arial"/>
              </a:rPr>
              <a:t>External scope validation → PENDING  ·  AUV hull-slot pod → NEXT BUILD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274320" y="5358384"/>
            <a:ext cx="11704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65760" y="546811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TECHNOLOGIES</a:t>
            </a:r>
          </a:p>
          <a:p>
            <a:pPr algn="l"/>
            <a:r>
              <a:rPr sz="800" b="1" i="0">
                <a:solidFill>
                  <a:srgbClr val="183153"/>
                </a:solidFill>
                <a:latin typeface="Arial"/>
              </a:rPr>
              <a:t>TO BE USED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1481328" y="5431536"/>
            <a:ext cx="0" cy="420624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238" name="TextBox 237"/>
          <p:cNvSpPr txBox="1"/>
          <p:nvPr/>
        </p:nvSpPr>
        <p:spPr>
          <a:xfrm>
            <a:off x="1591056" y="5440680"/>
            <a:ext cx="3429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83153"/>
                </a:solidFill>
                <a:latin typeface="Arial"/>
              </a:rPr>
              <a:t>Programming  </a:t>
            </a:r>
            <a:r>
              <a:rPr sz="700" b="0" i="0">
                <a:solidFill>
                  <a:srgbClr val="263238"/>
                </a:solidFill>
                <a:latin typeface="Arial"/>
              </a:rPr>
              <a:t>C / C++ · Python · JavaScript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056632" y="5440680"/>
            <a:ext cx="3429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83153"/>
                </a:solidFill>
                <a:latin typeface="Arial"/>
              </a:rPr>
              <a:t>Embedded  </a:t>
            </a:r>
            <a:r>
              <a:rPr sz="700" b="0" i="0">
                <a:solidFill>
                  <a:srgbClr val="263238"/>
                </a:solidFill>
                <a:latin typeface="Arial"/>
              </a:rPr>
              <a:t>STM32F446RE · ADC · TIM6 · DMA · 12-bit DAC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522208" y="5440680"/>
            <a:ext cx="3429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83153"/>
                </a:solidFill>
                <a:latin typeface="Arial"/>
              </a:rPr>
              <a:t>Signal processing  </a:t>
            </a:r>
            <a:r>
              <a:rPr sz="700" b="0" i="0">
                <a:solidFill>
                  <a:srgbClr val="263238"/>
                </a:solidFill>
                <a:latin typeface="Arial"/>
              </a:rPr>
              <a:t>LFM · geometric sweep · Barker-13 · FFT · windowing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591056" y="5660136"/>
            <a:ext cx="3429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83153"/>
                </a:solidFill>
                <a:latin typeface="Arial"/>
              </a:rPr>
              <a:t>Analog  </a:t>
            </a:r>
            <a:r>
              <a:rPr sz="700" b="0" i="0">
                <a:solidFill>
                  <a:srgbClr val="263238"/>
                </a:solidFill>
                <a:latin typeface="Arial"/>
              </a:rPr>
              <a:t>Sallen-Key LPF · TLV9062 op-amp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056632" y="5660136"/>
            <a:ext cx="3429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83153"/>
                </a:solidFill>
                <a:latin typeface="Arial"/>
              </a:rPr>
              <a:t>Software  </a:t>
            </a:r>
            <a:r>
              <a:rPr sz="700" b="0" i="0">
                <a:solidFill>
                  <a:srgbClr val="263238"/>
                </a:solidFill>
                <a:latin typeface="Arial"/>
              </a:rPr>
              <a:t>React · Node.js / Express · WebSocket · OpenSCAD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522208" y="5660136"/>
            <a:ext cx="3429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183153"/>
                </a:solidFill>
                <a:latin typeface="Arial"/>
              </a:rPr>
              <a:t>Hardware  </a:t>
            </a:r>
            <a:r>
              <a:rPr sz="700" b="0" i="0">
                <a:solidFill>
                  <a:srgbClr val="263238"/>
                </a:solidFill>
                <a:latin typeface="Arial"/>
              </a:rPr>
              <a:t>Turbidity · TDS · pressure · DS18B20 · IMU · BMP390 · INA219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02920" y="6035040"/>
            <a:ext cx="71323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502920" y="60350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SENSE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1271016" y="6144768"/>
            <a:ext cx="274320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47" name="Rectangle 246"/>
          <p:cNvSpPr/>
          <p:nvPr/>
        </p:nvSpPr>
        <p:spPr>
          <a:xfrm>
            <a:off x="1600200" y="6035040"/>
            <a:ext cx="74980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600200" y="6035040"/>
            <a:ext cx="74980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DECIDE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2404872" y="6144768"/>
            <a:ext cx="274319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0" name="Rectangle 249"/>
          <p:cNvSpPr/>
          <p:nvPr/>
        </p:nvSpPr>
        <p:spPr>
          <a:xfrm>
            <a:off x="2734056" y="6035040"/>
            <a:ext cx="98755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34056" y="6035040"/>
            <a:ext cx="98755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SYNTHESISE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3776472" y="6144768"/>
            <a:ext cx="274320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3" name="Rectangle 252"/>
          <p:cNvSpPr/>
          <p:nvPr/>
        </p:nvSpPr>
        <p:spPr>
          <a:xfrm>
            <a:off x="4105656" y="6035040"/>
            <a:ext cx="786384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4105656" y="6035040"/>
            <a:ext cx="7863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STREAM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4946904" y="6144768"/>
            <a:ext cx="274320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6" name="Rectangle 255"/>
          <p:cNvSpPr/>
          <p:nvPr/>
        </p:nvSpPr>
        <p:spPr>
          <a:xfrm>
            <a:off x="5276088" y="6035040"/>
            <a:ext cx="950976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A7B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276088" y="6035040"/>
            <a:ext cx="95097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CONDITION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6281928" y="6144768"/>
            <a:ext cx="274320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9" name="Rectangle 258"/>
          <p:cNvSpPr/>
          <p:nvPr/>
        </p:nvSpPr>
        <p:spPr>
          <a:xfrm>
            <a:off x="6611112" y="6035040"/>
            <a:ext cx="74980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611112" y="6035040"/>
            <a:ext cx="74980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183153"/>
                </a:solidFill>
                <a:latin typeface="Arial"/>
              </a:rPr>
              <a:t>VERIFY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8869680" y="6144768"/>
            <a:ext cx="320040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sp>
        <p:nvSpPr>
          <p:cNvPr id="262" name="TextBox 261"/>
          <p:cNvSpPr txBox="1"/>
          <p:nvPr/>
        </p:nvSpPr>
        <p:spPr>
          <a:xfrm>
            <a:off x="9253728" y="607161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built / running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10287000" y="6144768"/>
            <a:ext cx="320040" cy="0"/>
          </a:xfrm>
          <a:prstGeom prst="line">
            <a:avLst/>
          </a:prstGeom>
          <a:ln w="12700">
            <a:solidFill>
              <a:srgbClr val="8A7BAF"/>
            </a:solidFill>
            <a:prstDash val="dash"/>
          </a:ln>
          <a:effectLst/>
        </p:spPr>
      </p:cxnSp>
      <p:sp>
        <p:nvSpPr>
          <p:cNvPr id="264" name="TextBox 263"/>
          <p:cNvSpPr txBox="1"/>
          <p:nvPr/>
        </p:nvSpPr>
        <p:spPr>
          <a:xfrm>
            <a:off x="10671048" y="607161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7085"/>
                </a:solidFill>
                <a:latin typeface="Arial"/>
              </a:rPr>
              <a:t>designed / next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