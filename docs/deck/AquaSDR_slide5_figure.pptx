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0" r:id="rId6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258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3153"/>
                </a:solidFill>
                <a:latin typeface="Arial"/>
              </a:rPr>
              <a:t>IMPACT</a:t>
            </a:r>
            <a:r>
              <a:rPr sz="1100" b="0">
                <a:solidFill>
                  <a:srgbClr val="667085"/>
                </a:solidFill>
                <a:latin typeface="Arial"/>
              </a:rPr>
              <a:t>   on the target audience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783080"/>
            <a:ext cx="376732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783080"/>
            <a:ext cx="3767328" cy="3657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34930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NIOT · MoES · DEEP OCEAN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401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rial"/>
              </a:rPr>
              <a:t>One payload for every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rial"/>
              </a:rPr>
              <a:t>Adapts to clear, coastal and murky water with no hardware change.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3108960"/>
            <a:ext cx="3401568" cy="0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3154680"/>
            <a:ext cx="34015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3B8C7A"/>
                </a:solidFill>
                <a:latin typeface="Arial"/>
              </a:rPr>
              <a:t>3 profiles · 4 parameters · switched in &lt; 100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783080"/>
            <a:ext cx="376732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783080"/>
            <a:ext cx="3767328" cy="3657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783080"/>
            <a:ext cx="34930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AUV &amp; SURVEY OPERATORS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286000"/>
            <a:ext cx="3401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rial"/>
              </a:rPr>
              <a:t>Sharper seabed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65176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rial"/>
              </a:rPr>
              <a:t>Every ping is re-tuned to the water instead of one fixed setting.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07408" y="3108960"/>
            <a:ext cx="3401568" cy="0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407408" y="3154680"/>
            <a:ext cx="34015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3B8C7A"/>
                </a:solidFill>
                <a:latin typeface="Arial"/>
              </a:rPr>
              <a:t>Windowed pulses: leakage −14.6 → −35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783080"/>
            <a:ext cx="376732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783080"/>
            <a:ext cx="3767328" cy="3657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783080"/>
            <a:ext cx="34930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RESEARCHERS &amp;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286000"/>
            <a:ext cx="34015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rial"/>
              </a:rPr>
              <a:t>An open sonar test 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65176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63238"/>
                </a:solidFill>
                <a:latin typeface="Arial"/>
              </a:rPr>
              <a:t>A new waveform or policy is a firmware update, checked on-board.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57616" y="3108960"/>
            <a:ext cx="3401568" cy="0"/>
          </a:xfrm>
          <a:prstGeom prst="line">
            <a:avLst/>
          </a:prstGeom>
          <a:ln w="9525">
            <a:solidFill>
              <a:srgbClr val="D0D5DD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8357616" y="3154680"/>
            <a:ext cx="34015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3B8C7A"/>
                </a:solidFill>
                <a:latin typeface="Arial"/>
              </a:rPr>
              <a:t>LFM · Geometric · Barker-13 · 161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675887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3153"/>
                </a:solidFill>
                <a:latin typeface="Arial"/>
              </a:rPr>
              <a:t>BENEFITS</a:t>
            </a:r>
            <a:r>
              <a:rPr sz="1100" b="0">
                <a:solidFill>
                  <a:srgbClr val="667085"/>
                </a:solidFill>
                <a:latin typeface="Arial"/>
              </a:rPr>
              <a:t>   economic · environmental · strategic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69080"/>
            <a:ext cx="3767328" cy="132588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069080"/>
            <a:ext cx="73152" cy="1325880"/>
          </a:xfrm>
          <a:prstGeom prst="rect">
            <a:avLst/>
          </a:prstGeom>
          <a:solidFill>
            <a:srgbClr val="3B8C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4197096"/>
            <a:ext cx="3401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3B8C7A"/>
                </a:solidFill>
                <a:latin typeface="Arial"/>
              </a:rPr>
              <a:t>ECONOMIC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434840"/>
            <a:ext cx="34015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rial"/>
              </a:rPr>
              <a:t>Low cost, off the shelf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782312"/>
            <a:ext cx="3355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rial"/>
              </a:rPr>
              <a:t>STM32, a standard op-amp and common sensors. No imported custom sonar electronics.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4528" y="4069080"/>
            <a:ext cx="3767328" cy="132588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24528" y="4069080"/>
            <a:ext cx="73152" cy="1325880"/>
          </a:xfrm>
          <a:prstGeom prst="rect">
            <a:avLst/>
          </a:prstGeom>
          <a:solidFill>
            <a:srgbClr val="5E8C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197096"/>
            <a:ext cx="3401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E8C61"/>
                </a:solidFill>
                <a:latin typeface="Arial"/>
              </a:rPr>
              <a:t>ENVIRONMENTAL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434840"/>
            <a:ext cx="34015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rial"/>
              </a:rPr>
              <a:t>Only the power the water needs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782312"/>
            <a:ext cx="3355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rial"/>
              </a:rPr>
              <a:t>Clear water pings at 35 % amplitude, not a fixed maximum: less acoustic noise for marine life.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4736" y="4069080"/>
            <a:ext cx="3767328" cy="132588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74736" y="4069080"/>
            <a:ext cx="73152" cy="132588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8" y="4197096"/>
            <a:ext cx="3401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83153"/>
                </a:solidFill>
                <a:latin typeface="Arial"/>
              </a:rPr>
              <a:t>STRATEGIC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4434840"/>
            <a:ext cx="34015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rial"/>
              </a:rPr>
              <a:t>Sonar built in India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4782312"/>
            <a:ext cx="3355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263238"/>
                </a:solidFill>
                <a:latin typeface="Arial"/>
              </a:rPr>
              <a:t>Indigenous technology for port security, cable and pipeline inspection, and coastal monitoring.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4320" y="5596128"/>
            <a:ext cx="11649456" cy="0"/>
          </a:xfrm>
          <a:prstGeom prst="line">
            <a:avLst/>
          </a:prstGeom>
          <a:ln w="12700">
            <a:solidFill>
              <a:srgbClr val="183153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274320" y="5669280"/>
            <a:ext cx="116494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83153"/>
                </a:solidFill>
                <a:latin typeface="Arial"/>
              </a:rPr>
              <a:t>One adaptive ping, any water</a:t>
            </a:r>
            <a:r>
              <a:rPr sz="1400" b="0">
                <a:solidFill>
                  <a:srgbClr val="667085"/>
                </a:solidFill>
                <a:latin typeface="Arial"/>
              </a:rPr>
              <a:t>   —   better data, less power, built in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