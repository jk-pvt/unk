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8" r:id="rId4"/>
  </p:sldIdLst>
  <p:sldSz cx="12192000" cy="6858000"/>
  <p:notesSz cx="6858000" cy="9144000"/>
  <p:embeddedFontLs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Garamond" pitchFamily="18" charset="0"/>
      <p:regular r:id="rId14"/>
      <p:bold r:id="rId15"/>
      <p:italic r:id="rId16"/>
    </p:embeddedFont>
    <p:embeddedFont>
      <p:font typeface="Oswald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6sIpfbBRMJiHKANEKy+deDLRG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3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3.jpg"/><Relationship Id="rId6" Type="http://schemas.openxmlformats.org/officeDocument/2006/relationships/image" Target="../media/image4.png"/><Relationship Id="rId7" Type="http://schemas.openxmlformats.org/officeDocument/2006/relationships/image" Target="../media/image5.jpg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7" name="Google Shape;117;p3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05514" y="1"/>
            <a:ext cx="1486486" cy="165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8" name="TextBox 117"/>
          <p:cNvSpPr txBox="1"/>
          <p:nvPr/>
        </p:nvSpPr>
        <p:spPr>
          <a:xfrm>
            <a:off x="274320" y="1188720"/>
            <a:ext cx="3017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E8B6E"/>
                </a:solidFill>
                <a:latin typeface="Arial"/>
              </a:rPr>
              <a:t>SENSE · REAL ENVIRONMENT</a:t>
            </a:r>
          </a:p>
        </p:txBody>
      </p:sp>
      <p:pic>
        <p:nvPicPr>
          <p:cNvPr id="119" name="Picture 118" descr="senso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1463040"/>
            <a:ext cx="1874519" cy="2062178"/>
          </a:xfrm>
          <a:prstGeom prst="rect">
            <a:avLst/>
          </a:prstGeom>
          <a:ln w="15875">
            <a:solidFill>
              <a:srgbClr val="2E8B6E"/>
            </a:solidFill>
          </a:ln>
        </p:spPr>
      </p:pic>
      <p:sp>
        <p:nvSpPr>
          <p:cNvPr id="120" name="TextBox 119"/>
          <p:cNvSpPr txBox="1"/>
          <p:nvPr/>
        </p:nvSpPr>
        <p:spPr>
          <a:xfrm>
            <a:off x="164592" y="1673351"/>
            <a:ext cx="1115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60" b="1" i="0">
                <a:solidFill>
                  <a:srgbClr val="14213D"/>
                </a:solidFill>
                <a:latin typeface="Arial"/>
              </a:rPr>
              <a:t>TDS / salinity proxy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307592" y="1755648"/>
            <a:ext cx="706504" cy="274792"/>
          </a:xfrm>
          <a:prstGeom prst="line">
            <a:avLst/>
          </a:prstGeom>
          <a:ln w="12700">
            <a:solidFill>
              <a:srgbClr val="2E8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1972948" y="1989292"/>
            <a:ext cx="82296" cy="822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64592" y="2039112"/>
            <a:ext cx="1115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60" b="1" i="0">
                <a:solidFill>
                  <a:srgbClr val="14213D"/>
                </a:solidFill>
                <a:latin typeface="Arial"/>
              </a:rPr>
              <a:t>HC-SR04 ultrasonic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307592" y="2121408"/>
            <a:ext cx="980987" cy="167306"/>
          </a:xfrm>
          <a:prstGeom prst="line">
            <a:avLst/>
          </a:prstGeom>
          <a:ln w="12700">
            <a:solidFill>
              <a:srgbClr val="2E8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2247431" y="2247566"/>
            <a:ext cx="82296" cy="822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64592" y="2404872"/>
            <a:ext cx="1115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60" b="1" i="0">
                <a:solidFill>
                  <a:srgbClr val="14213D"/>
                </a:solidFill>
                <a:latin typeface="Arial"/>
              </a:rPr>
              <a:t>Turbidity sensor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307592" y="2487168"/>
            <a:ext cx="741317" cy="75878"/>
          </a:xfrm>
          <a:prstGeom prst="line">
            <a:avLst/>
          </a:prstGeom>
          <a:ln w="12700">
            <a:solidFill>
              <a:srgbClr val="2E8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2007761" y="2521898"/>
            <a:ext cx="82296" cy="822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64592" y="2770632"/>
            <a:ext cx="1115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60" b="1" i="0">
                <a:solidFill>
                  <a:srgbClr val="14213D"/>
                </a:solidFill>
                <a:latin typeface="Arial"/>
              </a:rPr>
              <a:t>DS18B20 temperature</a:t>
            </a:r>
          </a:p>
        </p:txBody>
      </p:sp>
      <p:cxnSp>
        <p:nvCxnSpPr>
          <p:cNvPr id="130" name="Connector 129"/>
          <p:cNvCxnSpPr/>
          <p:nvPr/>
        </p:nvCxnSpPr>
        <p:spPr>
          <a:xfrm flipV="1">
            <a:off x="1307592" y="2528253"/>
            <a:ext cx="1463007" cy="324675"/>
          </a:xfrm>
          <a:prstGeom prst="line">
            <a:avLst/>
          </a:prstGeom>
          <a:ln w="12700">
            <a:solidFill>
              <a:srgbClr val="2E8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/>
          <p:cNvSpPr/>
          <p:nvPr/>
        </p:nvSpPr>
        <p:spPr>
          <a:xfrm>
            <a:off x="2729451" y="2487105"/>
            <a:ext cx="82296" cy="822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64592" y="3136392"/>
            <a:ext cx="1115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60" b="1" i="0">
                <a:solidFill>
                  <a:srgbClr val="14213D"/>
                </a:solidFill>
                <a:latin typeface="Arial"/>
              </a:rPr>
              <a:t>Pressure / depth</a:t>
            </a:r>
          </a:p>
        </p:txBody>
      </p:sp>
      <p:cxnSp>
        <p:nvCxnSpPr>
          <p:cNvPr id="133" name="Connector 132"/>
          <p:cNvCxnSpPr/>
          <p:nvPr/>
        </p:nvCxnSpPr>
        <p:spPr>
          <a:xfrm flipV="1">
            <a:off x="1307592" y="2975214"/>
            <a:ext cx="1394721" cy="243474"/>
          </a:xfrm>
          <a:prstGeom prst="line">
            <a:avLst/>
          </a:prstGeom>
          <a:ln w="12700">
            <a:solidFill>
              <a:srgbClr val="2E8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2661165" y="2934066"/>
            <a:ext cx="82296" cy="822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325880" y="3570938"/>
            <a:ext cx="18745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E8B6E"/>
                </a:solidFill>
                <a:latin typeface="Arial"/>
              </a:rPr>
              <a:t>ADC  ·  1-Wire  ·  I²C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74320" y="3767328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4A5568"/>
                </a:solidFill>
                <a:latin typeface="Arial"/>
              </a:rPr>
              <a:t>also on board: IMU + magnetometer · BMP390 cabin pressure · INA219 ×2 (mounted, not yet commissioned)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74320" y="4114800"/>
            <a:ext cx="2971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4213D"/>
                </a:solidFill>
                <a:latin typeface="Arial"/>
              </a:rPr>
              <a:t>ONE ADAPTATION POLICY · TWO INPUTS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74320" y="4334256"/>
            <a:ext cx="1280160" cy="402336"/>
          </a:xfrm>
          <a:prstGeom prst="roundRect">
            <a:avLst>
              <a:gd name="adj" fmla="val 6000"/>
            </a:avLst>
          </a:prstGeom>
          <a:solidFill>
            <a:srgbClr val="EEF7F2"/>
          </a:solidFill>
          <a:ln w="12700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274320" y="436168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4213D"/>
                </a:solidFill>
                <a:latin typeface="Arial"/>
              </a:rPr>
              <a:t>A0 sensor</a:t>
            </a:r>
          </a:p>
          <a:p>
            <a:pPr algn="ctr"/>
            <a:r>
              <a:rPr sz="750" b="0" i="0">
                <a:solidFill>
                  <a:srgbClr val="4A5568"/>
                </a:solidFill>
                <a:latin typeface="Arial"/>
              </a:rPr>
              <a:t>TDS_PROXY · ADC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645920" y="4334256"/>
            <a:ext cx="1280160" cy="402336"/>
          </a:xfrm>
          <a:prstGeom prst="roundRect">
            <a:avLst>
              <a:gd name="adj" fmla="val 6000"/>
            </a:avLst>
          </a:prstGeom>
          <a:solidFill>
            <a:srgbClr val="EEF7F2"/>
          </a:solidFill>
          <a:ln w="12700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1645920" y="436168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4213D"/>
                </a:solidFill>
                <a:latin typeface="Arial"/>
              </a:rPr>
              <a:t>Web command</a:t>
            </a:r>
          </a:p>
          <a:p>
            <a:pPr algn="ctr"/>
            <a:r>
              <a:rPr sz="750" b="0" i="0">
                <a:solidFill>
                  <a:srgbClr val="4A5568"/>
                </a:solidFill>
                <a:latin typeface="Arial"/>
              </a:rPr>
              <a:t>console → UART</a:t>
            </a:r>
          </a:p>
        </p:txBody>
      </p:sp>
      <p:sp>
        <p:nvSpPr>
          <p:cNvPr id="142" name="Oval 141"/>
          <p:cNvSpPr/>
          <p:nvPr/>
        </p:nvSpPr>
        <p:spPr>
          <a:xfrm>
            <a:off x="3063240" y="4489704"/>
            <a:ext cx="91440" cy="91440"/>
          </a:xfrm>
          <a:prstGeom prst="ellipse">
            <a:avLst/>
          </a:prstGeom>
          <a:solidFill>
            <a:srgbClr val="2E8B6E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>
            <a:off x="2926080" y="4535424"/>
            <a:ext cx="420624" cy="0"/>
          </a:xfrm>
          <a:prstGeom prst="line">
            <a:avLst/>
          </a:prstGeom>
          <a:ln w="19050">
            <a:solidFill>
              <a:srgbClr val="2E8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346704" y="2304288"/>
            <a:ext cx="0" cy="2231136"/>
          </a:xfrm>
          <a:prstGeom prst="line">
            <a:avLst/>
          </a:prstGeom>
          <a:ln w="19050">
            <a:solidFill>
              <a:srgbClr val="2E8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346704" y="2304288"/>
            <a:ext cx="182880" cy="0"/>
          </a:xfrm>
          <a:prstGeom prst="line">
            <a:avLst/>
          </a:prstGeom>
          <a:ln w="19050">
            <a:solidFill>
              <a:srgbClr val="2E8B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554480" y="4846320"/>
            <a:ext cx="1554480" cy="0"/>
          </a:xfrm>
          <a:prstGeom prst="line">
            <a:avLst/>
          </a:prstGeom>
          <a:ln w="12700">
            <a:solidFill>
              <a:srgbClr val="2E8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914400" y="4736592"/>
            <a:ext cx="0" cy="109728"/>
          </a:xfrm>
          <a:prstGeom prst="line">
            <a:avLst/>
          </a:prstGeom>
          <a:ln w="12700">
            <a:solidFill>
              <a:srgbClr val="2E8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3108960" y="4535424"/>
            <a:ext cx="0" cy="310896"/>
          </a:xfrm>
          <a:prstGeom prst="line">
            <a:avLst/>
          </a:prstGeom>
          <a:ln w="12700">
            <a:solidFill>
              <a:srgbClr val="2E8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914400" y="4846320"/>
            <a:ext cx="640080" cy="0"/>
          </a:xfrm>
          <a:prstGeom prst="line">
            <a:avLst/>
          </a:prstGeom>
          <a:ln w="12700">
            <a:solidFill>
              <a:srgbClr val="2E8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2194560" y="4736592"/>
            <a:ext cx="0" cy="109728"/>
          </a:xfrm>
          <a:prstGeom prst="line">
            <a:avLst/>
          </a:prstGeom>
          <a:ln w="12700">
            <a:solidFill>
              <a:srgbClr val="2E8B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ounded Rectangle 150"/>
          <p:cNvSpPr/>
          <p:nvPr/>
        </p:nvSpPr>
        <p:spPr>
          <a:xfrm>
            <a:off x="274320" y="5047488"/>
            <a:ext cx="2971800" cy="80467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C3C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365760" y="5084064"/>
            <a:ext cx="2834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14213D"/>
                </a:solidFill>
                <a:latin typeface="Arial"/>
              </a:rPr>
              <a:t>TECHNOLOGIES TO BE USED</a:t>
            </a:r>
          </a:p>
          <a:p>
            <a:pPr algn="l"/>
            <a:r>
              <a:rPr sz="750" b="0" i="0">
                <a:solidFill>
                  <a:srgbClr val="4A5568"/>
                </a:solidFill>
                <a:latin typeface="Arial"/>
              </a:rPr>
              <a:t>STM32F446RE (Cortex-M4F) · embedded C / C++</a:t>
            </a:r>
          </a:p>
          <a:p>
            <a:pPr algn="l"/>
            <a:r>
              <a:rPr sz="750" b="0" i="0">
                <a:solidFill>
                  <a:srgbClr val="4A5568"/>
                </a:solidFill>
                <a:latin typeface="Arial"/>
              </a:rPr>
              <a:t>TIM6 + DMA + 12-bit DAC · ADC / 1-Wire / I²C</a:t>
            </a:r>
          </a:p>
          <a:p>
            <a:pPr algn="l"/>
            <a:r>
              <a:rPr sz="750" b="0" i="0">
                <a:solidFill>
                  <a:srgbClr val="4A5568"/>
                </a:solidFill>
                <a:latin typeface="Arial"/>
              </a:rPr>
              <a:t>Sallen-Key LPF + TLV9062 op-amp (analog)</a:t>
            </a:r>
          </a:p>
          <a:p>
            <a:pPr algn="l"/>
            <a:r>
              <a:rPr sz="750" b="0" i="0">
                <a:solidFill>
                  <a:srgbClr val="4A5568"/>
                </a:solidFill>
                <a:latin typeface="Arial"/>
              </a:rPr>
              <a:t>Node.js + React console · Python / NumPy · OpenSCAD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3200400" y="1883664"/>
            <a:ext cx="329184" cy="0"/>
          </a:xfrm>
          <a:prstGeom prst="line">
            <a:avLst/>
          </a:prstGeom>
          <a:ln w="19050">
            <a:solidFill>
              <a:srgbClr val="2E8B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3429000" y="1188720"/>
            <a:ext cx="4297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A4D8F"/>
                </a:solidFill>
                <a:latin typeface="Arial"/>
              </a:rPr>
              <a:t>STM32F446RE · EMBEDDED CONTROL</a:t>
            </a:r>
            <a:r>
              <a:rPr sz="800" b="0" i="1">
                <a:solidFill>
                  <a:srgbClr val="4A5568"/>
                </a:solidFill>
                <a:latin typeface="Arial"/>
              </a:rPr>
              <a:t>    methodology &amp; process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429000" y="1444752"/>
            <a:ext cx="4297680" cy="4315968"/>
          </a:xfrm>
          <a:prstGeom prst="roundRect">
            <a:avLst>
              <a:gd name="adj" fmla="val 3000"/>
            </a:avLst>
          </a:prstGeom>
          <a:solidFill>
            <a:srgbClr val="F4F7FC"/>
          </a:solidFill>
          <a:ln w="15875">
            <a:solidFill>
              <a:srgbClr val="2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ounded Rectangle 155"/>
          <p:cNvSpPr/>
          <p:nvPr/>
        </p:nvSpPr>
        <p:spPr>
          <a:xfrm>
            <a:off x="3520440" y="1517904"/>
            <a:ext cx="4114800" cy="237744"/>
          </a:xfrm>
          <a:prstGeom prst="roundRect">
            <a:avLst>
              <a:gd name="adj" fmla="val 2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3520440" y="1517904"/>
            <a:ext cx="41148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THE NEXT PING IS COMPUTED ON THE MCU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3808476" y="1929384"/>
            <a:ext cx="0" cy="1289303"/>
          </a:xfrm>
          <a:prstGeom prst="line">
            <a:avLst/>
          </a:prstGeom>
          <a:ln w="19050">
            <a:solidFill>
              <a:srgbClr val="2A4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3685032" y="1810512"/>
            <a:ext cx="246888" cy="246888"/>
          </a:xfrm>
          <a:prstGeom prst="ellipse">
            <a:avLst/>
          </a:prstGeom>
          <a:solidFill>
            <a:srgbClr val="2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023360" y="1792224"/>
            <a:ext cx="3611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4213D"/>
                </a:solidFill>
                <a:latin typeface="Arial"/>
              </a:rPr>
              <a:t>ACQUIRE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023360" y="1965960"/>
            <a:ext cx="3611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4A5568"/>
                </a:solidFill>
                <a:latin typeface="Arial"/>
              </a:rPr>
              <a:t>ADC · 1-Wire · I²C · stale / out-of-range readings rejected</a:t>
            </a:r>
          </a:p>
        </p:txBody>
      </p:sp>
      <p:sp>
        <p:nvSpPr>
          <p:cNvPr id="162" name="Oval 161"/>
          <p:cNvSpPr/>
          <p:nvPr/>
        </p:nvSpPr>
        <p:spPr>
          <a:xfrm>
            <a:off x="3685032" y="2240280"/>
            <a:ext cx="246888" cy="246888"/>
          </a:xfrm>
          <a:prstGeom prst="ellipse">
            <a:avLst/>
          </a:prstGeom>
          <a:solidFill>
            <a:srgbClr val="2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023360" y="2221992"/>
            <a:ext cx="3611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4213D"/>
                </a:solidFill>
                <a:latin typeface="Arial"/>
              </a:rPr>
              <a:t>DECIDE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023360" y="2395728"/>
            <a:ext cx="3611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4A5568"/>
                </a:solidFill>
                <a:latin typeface="Arial"/>
              </a:rPr>
              <a:t>smoothing + hysteresis → CLEAR / TRANSITION / MURKY</a:t>
            </a:r>
          </a:p>
        </p:txBody>
      </p:sp>
      <p:sp>
        <p:nvSpPr>
          <p:cNvPr id="165" name="Oval 164"/>
          <p:cNvSpPr/>
          <p:nvPr/>
        </p:nvSpPr>
        <p:spPr>
          <a:xfrm>
            <a:off x="3685032" y="2670048"/>
            <a:ext cx="246888" cy="246888"/>
          </a:xfrm>
          <a:prstGeom prst="ellipse">
            <a:avLst/>
          </a:prstGeom>
          <a:solidFill>
            <a:srgbClr val="2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023360" y="2651760"/>
            <a:ext cx="3611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4213D"/>
                </a:solidFill>
                <a:latin typeface="Arial"/>
              </a:rPr>
              <a:t>SYNTHESISE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023360" y="2825496"/>
            <a:ext cx="3611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4A5568"/>
                </a:solidFill>
                <a:latin typeface="Arial"/>
              </a:rPr>
              <a:t>LFM chirp · geometric sweep · Barker-13  ×  Hann / Hamming / Blackman</a:t>
            </a:r>
          </a:p>
        </p:txBody>
      </p:sp>
      <p:sp>
        <p:nvSpPr>
          <p:cNvPr id="168" name="Oval 167"/>
          <p:cNvSpPr/>
          <p:nvPr/>
        </p:nvSpPr>
        <p:spPr>
          <a:xfrm>
            <a:off x="3685032" y="3099815"/>
            <a:ext cx="246888" cy="246888"/>
          </a:xfrm>
          <a:prstGeom prst="ellipse">
            <a:avLst/>
          </a:prstGeom>
          <a:solidFill>
            <a:srgbClr val="2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023360" y="3081527"/>
            <a:ext cx="3611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4213D"/>
                </a:solidFill>
                <a:latin typeface="Arial"/>
              </a:rPr>
              <a:t>STREAM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023360" y="3255263"/>
            <a:ext cx="3611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4A5568"/>
                </a:solidFill>
                <a:latin typeface="Arial"/>
              </a:rPr>
              <a:t>TIM6 → DMA → 12-bit DAC1 (PA4) · 1 MS/s · CPU sleeps between pings</a:t>
            </a:r>
          </a:p>
        </p:txBody>
      </p:sp>
      <p:sp>
        <p:nvSpPr>
          <p:cNvPr id="171" name="Oval 170"/>
          <p:cNvSpPr/>
          <p:nvPr/>
        </p:nvSpPr>
        <p:spPr>
          <a:xfrm>
            <a:off x="3685032" y="3529584"/>
            <a:ext cx="246888" cy="246888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023360" y="3511296"/>
            <a:ext cx="3611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4213D"/>
                </a:solidFill>
                <a:latin typeface="Arial"/>
              </a:rPr>
              <a:t>SELF-VALIDATE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023360" y="3685032"/>
            <a:ext cx="3611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0">
                <a:solidFill>
                  <a:srgbClr val="4A5568"/>
                </a:solidFill>
                <a:latin typeface="Arial"/>
              </a:rPr>
              <a:t>ADC3 + DMA capture of the DAC pin (PA4 → A5) → FFT / spectral analysis</a:t>
            </a:r>
          </a:p>
        </p:txBody>
      </p:sp>
      <p:cxnSp>
        <p:nvCxnSpPr>
          <p:cNvPr id="174" name="Connector 173"/>
          <p:cNvCxnSpPr/>
          <p:nvPr/>
        </p:nvCxnSpPr>
        <p:spPr>
          <a:xfrm>
            <a:off x="3584448" y="3218687"/>
            <a:ext cx="0" cy="429769"/>
          </a:xfrm>
          <a:prstGeom prst="line">
            <a:avLst/>
          </a:prstGeom>
          <a:ln w="15875">
            <a:solidFill>
              <a:srgbClr val="B0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3584448" y="3648456"/>
            <a:ext cx="91439" cy="0"/>
          </a:xfrm>
          <a:prstGeom prst="line">
            <a:avLst/>
          </a:prstGeom>
          <a:ln w="15875">
            <a:solidFill>
              <a:srgbClr val="B03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Rounded Rectangle 175"/>
          <p:cNvSpPr/>
          <p:nvPr/>
        </p:nvSpPr>
        <p:spPr>
          <a:xfrm>
            <a:off x="3520440" y="4005072"/>
            <a:ext cx="4114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3CA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TextBox 176"/>
          <p:cNvSpPr txBox="1"/>
          <p:nvPr/>
        </p:nvSpPr>
        <p:spPr>
          <a:xfrm>
            <a:off x="3611880" y="4023360"/>
            <a:ext cx="397763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40" b="1" i="0">
                <a:solidFill>
                  <a:srgbClr val="B03A2E"/>
                </a:solidFill>
                <a:latin typeface="Arial"/>
              </a:rPr>
              <a:t>MCU ADC CAPTURE  </a:t>
            </a:r>
            <a:r>
              <a:rPr sz="740" b="0" i="0">
                <a:solidFill>
                  <a:srgbClr val="14213D"/>
                </a:solidFill>
                <a:latin typeface="Arial"/>
              </a:rPr>
              <a:t>42.00 kHz centre · 4 kHz sweep · 2 ms pulse · HANN</a:t>
            </a:r>
          </a:p>
          <a:p>
            <a:pPr algn="l"/>
            <a:r>
              <a:rPr sz="740" b="1" i="0">
                <a:solidFill>
                  <a:srgbClr val="2A4D8F"/>
                </a:solidFill>
                <a:latin typeface="Arial"/>
              </a:rPr>
              <a:t>LINK + STREAM  </a:t>
            </a:r>
            <a:r>
              <a:rPr sz="740" b="0" i="0">
                <a:solidFill>
                  <a:srgbClr val="14213D"/>
                </a:solidFill>
                <a:latin typeface="Arial"/>
              </a:rPr>
              <a:t>330 / 330 commands acknowledged · 0 DMA underruns</a:t>
            </a:r>
          </a:p>
        </p:txBody>
      </p:sp>
      <p:pic>
        <p:nvPicPr>
          <p:cNvPr id="178" name="Picture 177" descr="ba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4425696"/>
            <a:ext cx="3474720" cy="1285647"/>
          </a:xfrm>
          <a:prstGeom prst="rect">
            <a:avLst/>
          </a:prstGeom>
          <a:ln w="15875">
            <a:solidFill>
              <a:srgbClr val="2A4D8F"/>
            </a:solidFill>
          </a:ln>
        </p:spPr>
      </p:pic>
      <p:sp>
        <p:nvSpPr>
          <p:cNvPr id="179" name="Rounded Rectangle 178"/>
          <p:cNvSpPr/>
          <p:nvPr/>
        </p:nvSpPr>
        <p:spPr>
          <a:xfrm>
            <a:off x="3909974" y="5222797"/>
            <a:ext cx="1223467" cy="1737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TextBox 179"/>
          <p:cNvSpPr txBox="1"/>
          <p:nvPr/>
        </p:nvSpPr>
        <p:spPr>
          <a:xfrm>
            <a:off x="3909974" y="5231941"/>
            <a:ext cx="1223467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4213D"/>
                </a:solidFill>
                <a:latin typeface="Arial"/>
              </a:rPr>
              <a:t>STM32 NUCLEO-F446RE</a:t>
            </a:r>
          </a:p>
        </p:txBody>
      </p:sp>
      <p:cxnSp>
        <p:nvCxnSpPr>
          <p:cNvPr id="181" name="Connector 180"/>
          <p:cNvCxnSpPr/>
          <p:nvPr/>
        </p:nvCxnSpPr>
        <p:spPr>
          <a:xfrm flipV="1">
            <a:off x="4521707" y="4572259"/>
            <a:ext cx="284745" cy="65053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4765304" y="4531111"/>
            <a:ext cx="82296" cy="822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5334609" y="5222797"/>
            <a:ext cx="486460" cy="1737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TextBox 183"/>
          <p:cNvSpPr txBox="1"/>
          <p:nvPr/>
        </p:nvSpPr>
        <p:spPr>
          <a:xfrm>
            <a:off x="5334609" y="5231941"/>
            <a:ext cx="48646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4213D"/>
                </a:solidFill>
                <a:latin typeface="Arial"/>
              </a:rPr>
              <a:t>BMP390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5577840" y="5396533"/>
            <a:ext cx="76443" cy="179817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5613135" y="5535202"/>
            <a:ext cx="82296" cy="822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6411772" y="4618543"/>
            <a:ext cx="940003" cy="1737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TextBox 187"/>
          <p:cNvSpPr txBox="1"/>
          <p:nvPr/>
        </p:nvSpPr>
        <p:spPr>
          <a:xfrm>
            <a:off x="6411772" y="4627687"/>
            <a:ext cx="940003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14213D"/>
                </a:solidFill>
                <a:latin typeface="Arial"/>
              </a:rPr>
              <a:t>TDS meter (A0)</a:t>
            </a:r>
          </a:p>
        </p:txBody>
      </p:sp>
      <p:cxnSp>
        <p:nvCxnSpPr>
          <p:cNvPr id="189" name="Connector 188"/>
          <p:cNvCxnSpPr/>
          <p:nvPr/>
        </p:nvCxnSpPr>
        <p:spPr>
          <a:xfrm flipH="1">
            <a:off x="6213713" y="4792279"/>
            <a:ext cx="668061" cy="687648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6172565" y="5438779"/>
            <a:ext cx="82296" cy="822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A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909560" y="1188720"/>
            <a:ext cx="2697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7B5EA7"/>
                </a:solidFill>
                <a:latin typeface="Arial"/>
              </a:rPr>
              <a:t>ADAPTED NEXT PING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8778240" y="1481328"/>
            <a:ext cx="594359" cy="201168"/>
          </a:xfrm>
          <a:prstGeom prst="roundRect">
            <a:avLst>
              <a:gd name="adj" fmla="val 30000"/>
            </a:avLst>
          </a:prstGeom>
          <a:solidFill>
            <a:srgbClr val="3A7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TextBox 192"/>
          <p:cNvSpPr txBox="1"/>
          <p:nvPr/>
        </p:nvSpPr>
        <p:spPr>
          <a:xfrm>
            <a:off x="8759952" y="1490472"/>
            <a:ext cx="630936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CLEAR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9409176" y="1481328"/>
            <a:ext cx="594359" cy="201168"/>
          </a:xfrm>
          <a:prstGeom prst="roundRect">
            <a:avLst>
              <a:gd name="adj" fmla="val 3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TextBox 194"/>
          <p:cNvSpPr txBox="1"/>
          <p:nvPr/>
        </p:nvSpPr>
        <p:spPr>
          <a:xfrm>
            <a:off x="9390888" y="1490472"/>
            <a:ext cx="630936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TRANSITION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10040112" y="1481328"/>
            <a:ext cx="594359" cy="201168"/>
          </a:xfrm>
          <a:prstGeom prst="roundRect">
            <a:avLst>
              <a:gd name="adj" fmla="val 30000"/>
            </a:avLst>
          </a:prstGeom>
          <a:solidFill>
            <a:srgbClr val="9A6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TextBox 196"/>
          <p:cNvSpPr txBox="1"/>
          <p:nvPr/>
        </p:nvSpPr>
        <p:spPr>
          <a:xfrm>
            <a:off x="10021824" y="1490472"/>
            <a:ext cx="630936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MURKY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973568" y="1737360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Arial"/>
              </a:rPr>
              <a:t>Centre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8759952" y="1737360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568"/>
                </a:solidFill>
                <a:latin typeface="Arial"/>
              </a:rPr>
              <a:t>42 kHz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390888" y="1737360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568"/>
                </a:solidFill>
                <a:latin typeface="Arial"/>
              </a:rPr>
              <a:t>40 kHz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021824" y="1737360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568"/>
                </a:solidFill>
                <a:latin typeface="Arial"/>
              </a:rPr>
              <a:t>38 kHz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7973568" y="1924812"/>
            <a:ext cx="2679192" cy="0"/>
          </a:xfrm>
          <a:prstGeom prst="line">
            <a:avLst/>
          </a:prstGeom>
          <a:ln w="6350">
            <a:solidFill>
              <a:srgbClr val="E2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7973568" y="1938528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Arial"/>
              </a:rPr>
              <a:t>Bandwidth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759952" y="1938528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568"/>
                </a:solidFill>
                <a:latin typeface="Arial"/>
              </a:rPr>
              <a:t>4 kHz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9390888" y="1938528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568"/>
                </a:solidFill>
                <a:latin typeface="Arial"/>
              </a:rPr>
              <a:t>2 kHz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021824" y="1938528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568"/>
                </a:solidFill>
                <a:latin typeface="Arial"/>
              </a:rPr>
              <a:t>1 kHz</a:t>
            </a:r>
          </a:p>
        </p:txBody>
      </p:sp>
      <p:cxnSp>
        <p:nvCxnSpPr>
          <p:cNvPr id="207" name="Connector 206"/>
          <p:cNvCxnSpPr/>
          <p:nvPr/>
        </p:nvCxnSpPr>
        <p:spPr>
          <a:xfrm>
            <a:off x="7973568" y="2125980"/>
            <a:ext cx="2679192" cy="0"/>
          </a:xfrm>
          <a:prstGeom prst="line">
            <a:avLst/>
          </a:prstGeom>
          <a:ln w="6350">
            <a:solidFill>
              <a:srgbClr val="E2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7"/>
          <p:cNvSpPr txBox="1"/>
          <p:nvPr/>
        </p:nvSpPr>
        <p:spPr>
          <a:xfrm>
            <a:off x="7973568" y="2139696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Arial"/>
              </a:rPr>
              <a:t>Pulse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759952" y="2139696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568"/>
                </a:solidFill>
                <a:latin typeface="Arial"/>
              </a:rPr>
              <a:t>2 ms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9390888" y="2139696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568"/>
                </a:solidFill>
                <a:latin typeface="Arial"/>
              </a:rPr>
              <a:t>4 ms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0021824" y="2139696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568"/>
                </a:solidFill>
                <a:latin typeface="Arial"/>
              </a:rPr>
              <a:t>8 ms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7973568" y="2327148"/>
            <a:ext cx="2679192" cy="0"/>
          </a:xfrm>
          <a:prstGeom prst="line">
            <a:avLst/>
          </a:prstGeom>
          <a:ln w="6350">
            <a:solidFill>
              <a:srgbClr val="E2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7973568" y="2340864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Arial"/>
              </a:rPr>
              <a:t>Amplitude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759952" y="2340864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568"/>
                </a:solidFill>
                <a:latin typeface="Arial"/>
              </a:rPr>
              <a:t>35 %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390888" y="2340864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568"/>
                </a:solidFill>
                <a:latin typeface="Arial"/>
              </a:rPr>
              <a:t>50 %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021824" y="2340864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568"/>
                </a:solidFill>
                <a:latin typeface="Arial"/>
              </a:rPr>
              <a:t>62 %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7973568" y="2542032"/>
            <a:ext cx="40690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0" i="1">
                <a:solidFill>
                  <a:srgbClr val="4A5568"/>
                </a:solidFill>
                <a:latin typeface="Arial"/>
              </a:rPr>
              <a:t>CLEAR → shorter, sharper ping    MURKY → lower band · longer · more output</a:t>
            </a:r>
          </a:p>
        </p:txBody>
      </p:sp>
      <p:cxnSp>
        <p:nvCxnSpPr>
          <p:cNvPr id="218" name="Connector 217"/>
          <p:cNvCxnSpPr/>
          <p:nvPr/>
        </p:nvCxnSpPr>
        <p:spPr>
          <a:xfrm>
            <a:off x="7726679" y="2359152"/>
            <a:ext cx="91441" cy="0"/>
          </a:xfrm>
          <a:prstGeom prst="line">
            <a:avLst/>
          </a:prstGeom>
          <a:ln w="19050">
            <a:solidFill>
              <a:srgbClr val="7B5E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7818120" y="1993392"/>
            <a:ext cx="0" cy="365760"/>
          </a:xfrm>
          <a:prstGeom prst="line">
            <a:avLst/>
          </a:prstGeom>
          <a:ln w="19050">
            <a:solidFill>
              <a:srgbClr val="7B5E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7818120" y="1993392"/>
            <a:ext cx="73152" cy="0"/>
          </a:xfrm>
          <a:prstGeom prst="line">
            <a:avLst/>
          </a:prstGeom>
          <a:ln w="19050">
            <a:solidFill>
              <a:srgbClr val="7B5E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Rounded Rectangle 220"/>
          <p:cNvSpPr/>
          <p:nvPr/>
        </p:nvSpPr>
        <p:spPr>
          <a:xfrm>
            <a:off x="7909560" y="2816352"/>
            <a:ext cx="40690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7B5E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Oval 221"/>
          <p:cNvSpPr/>
          <p:nvPr/>
        </p:nvSpPr>
        <p:spPr>
          <a:xfrm>
            <a:off x="7991856" y="2880360"/>
            <a:ext cx="246888" cy="246888"/>
          </a:xfrm>
          <a:prstGeom prst="ellipse">
            <a:avLst/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293608" y="2889504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4213D"/>
                </a:solidFill>
                <a:latin typeface="Arial"/>
              </a:rPr>
              <a:t>CONDITION · analog front end</a:t>
            </a:r>
          </a:p>
        </p:txBody>
      </p:sp>
      <p:pic>
        <p:nvPicPr>
          <p:cNvPr id="224" name="Picture 223" descr="afe_ch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8431" y="3200400"/>
            <a:ext cx="2395728" cy="657264"/>
          </a:xfrm>
          <a:prstGeom prst="rect">
            <a:avLst/>
          </a:prstGeom>
        </p:spPr>
      </p:pic>
      <p:sp>
        <p:nvSpPr>
          <p:cNvPr id="225" name="TextBox 224"/>
          <p:cNvSpPr txBox="1"/>
          <p:nvPr/>
        </p:nvSpPr>
        <p:spPr>
          <a:xfrm>
            <a:off x="10515600" y="320040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4213D"/>
                </a:solidFill>
                <a:latin typeface="Arial"/>
              </a:rPr>
              <a:t>2nd-order LPF</a:t>
            </a:r>
          </a:p>
          <a:p>
            <a:pPr algn="l"/>
            <a:r>
              <a:rPr sz="800" b="0" i="0">
                <a:solidFill>
                  <a:srgbClr val="4A5568"/>
                </a:solidFill>
                <a:latin typeface="Arial"/>
              </a:rPr>
              <a:t>70.7 kHz cut-off</a:t>
            </a:r>
          </a:p>
          <a:p>
            <a:pPr algn="l"/>
            <a:r>
              <a:rPr sz="850" b="1" i="0">
                <a:solidFill>
                  <a:srgbClr val="14213D"/>
                </a:solidFill>
                <a:latin typeface="Arial"/>
              </a:rPr>
              <a:t>TLV9062 ×1.5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10515600" y="3730752"/>
            <a:ext cx="1353312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B5E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TextBox 226"/>
          <p:cNvSpPr txBox="1"/>
          <p:nvPr/>
        </p:nvSpPr>
        <p:spPr>
          <a:xfrm>
            <a:off x="10515600" y="3739896"/>
            <a:ext cx="1353312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" b="1" i="0">
                <a:solidFill>
                  <a:srgbClr val="7B5EA7"/>
                </a:solidFill>
                <a:latin typeface="Arial"/>
              </a:rPr>
              <a:t>DESIGNED · NEXT BUILD</a:t>
            </a:r>
          </a:p>
        </p:txBody>
      </p:sp>
      <p:cxnSp>
        <p:nvCxnSpPr>
          <p:cNvPr id="228" name="Connector 227"/>
          <p:cNvCxnSpPr/>
          <p:nvPr/>
        </p:nvCxnSpPr>
        <p:spPr>
          <a:xfrm>
            <a:off x="7726679" y="3218687"/>
            <a:ext cx="182881" cy="0"/>
          </a:xfrm>
          <a:prstGeom prst="line">
            <a:avLst/>
          </a:prstGeom>
          <a:ln w="19050">
            <a:solidFill>
              <a:srgbClr val="7B5E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9944100" y="4005072"/>
            <a:ext cx="0" cy="201168"/>
          </a:xfrm>
          <a:prstGeom prst="line">
            <a:avLst/>
          </a:prstGeom>
          <a:ln w="19050">
            <a:solidFill>
              <a:srgbClr val="1421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0" name="Picture 229" descr="payloa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4224528"/>
            <a:ext cx="4069080" cy="1089445"/>
          </a:xfrm>
          <a:prstGeom prst="rect">
            <a:avLst/>
          </a:prstGeom>
          <a:ln w="15875">
            <a:solidFill>
              <a:srgbClr val="14213D"/>
            </a:solidFill>
          </a:ln>
        </p:spPr>
      </p:pic>
      <p:sp>
        <p:nvSpPr>
          <p:cNvPr id="231" name="TextBox 230"/>
          <p:cNvSpPr txBox="1"/>
          <p:nvPr/>
        </p:nvSpPr>
        <p:spPr>
          <a:xfrm>
            <a:off x="7909560" y="5340096"/>
            <a:ext cx="4069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4213D"/>
                </a:solidFill>
                <a:latin typeface="Arial"/>
              </a:rPr>
              <a:t>AQUASDR PAYLOAD  </a:t>
            </a:r>
            <a:r>
              <a:rPr sz="800" b="0" i="0">
                <a:solidFill>
                  <a:srgbClr val="4A5568"/>
                </a:solidFill>
                <a:latin typeface="Arial"/>
              </a:rPr>
              <a:t>physical prototype · acrylic payload hull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909560" y="5541264"/>
            <a:ext cx="4069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4A5568"/>
                </a:solidFill>
                <a:latin typeface="Arial"/>
              </a:rPr>
              <a:t>External scope validation → PENDING   ·   AUV hull-slot pod → NEXT BUILD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9784080" y="5788152"/>
            <a:ext cx="27432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42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4" name="TextBox 233"/>
          <p:cNvSpPr txBox="1"/>
          <p:nvPr/>
        </p:nvSpPr>
        <p:spPr>
          <a:xfrm>
            <a:off x="10104120" y="5769864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Arial"/>
              </a:rPr>
              <a:t>built / running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10927080" y="5788152"/>
            <a:ext cx="274320" cy="1371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421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TextBox 235"/>
          <p:cNvSpPr txBox="1"/>
          <p:nvPr/>
        </p:nvSpPr>
        <p:spPr>
          <a:xfrm>
            <a:off x="11247120" y="576986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Arial"/>
              </a:rPr>
              <a:t>designed / next build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74320" y="6035040"/>
            <a:ext cx="117043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4213D"/>
                </a:solidFill>
                <a:latin typeface="Arial"/>
              </a:rPr>
              <a:t>SENSE THE WATER  →  COMPUTE THE NEXT PING  →  STREAM THE WAVEFORM  →  VERIFY THE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PresentationFormat>Custom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 New Roman</vt:lpstr>
      <vt:lpstr>Garamond</vt:lpstr>
      <vt:lpstr>Oswald</vt:lpstr>
      <vt:lpstr>Noto Sans Symbols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Crowdfunder</dc:creator>
  <cp:lastModifiedBy>DELL</cp:lastModifiedBy>
  <cp:revision>3</cp:revision>
  <dcterms:created xsi:type="dcterms:W3CDTF">2013-12-12T18:46:50Z</dcterms:created>
  <dcterms:modified xsi:type="dcterms:W3CDTF">2026-08-20T05:29:49Z</dcterms:modified>
</cp:coreProperties>
</file>