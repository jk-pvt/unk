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0" r:id="rId6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swald"/>
                <a:buNone/>
              </a:p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" name="TextBox 141"/>
          <p:cNvSpPr txBox="1"/>
          <p:nvPr/>
        </p:nvSpPr>
        <p:spPr>
          <a:xfrm>
            <a:off x="274320" y="13258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IMPACT</a:t>
            </a:r>
            <a:r>
              <a:rPr sz="1100" b="0">
                <a:solidFill>
                  <a:srgbClr val="667085"/>
                </a:solidFill>
                <a:latin typeface="Arial"/>
              </a:rPr>
              <a:t>   on the target audience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74320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NIOT · MoES · DEEP OCEAN MISSION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One payload for every water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Adapts to clear, coastal and murky water with no hardware change.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457200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49" name="TextBox 148"/>
          <p:cNvSpPr txBox="1"/>
          <p:nvPr/>
        </p:nvSpPr>
        <p:spPr>
          <a:xfrm>
            <a:off x="457200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3 profiles · 4 parameters · switched in &lt; 100 ms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224528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224528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407408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AUV &amp; SURVEY OPERATORS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407408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Sharper seabed data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07408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Every ping is re-tuned to the water instead of one fixed setting.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407408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56" name="TextBox 155"/>
          <p:cNvSpPr txBox="1"/>
          <p:nvPr/>
        </p:nvSpPr>
        <p:spPr>
          <a:xfrm>
            <a:off x="4407408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Windowed pulses: leakage −14.6 → −35 dB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174736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174736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357616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RESEARCHERS &amp; STUDENTS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57616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An open sonar test bed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57616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A new waveform or policy is a firmware update, checked on-board.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8357616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63" name="TextBox 162"/>
          <p:cNvSpPr txBox="1"/>
          <p:nvPr/>
        </p:nvSpPr>
        <p:spPr>
          <a:xfrm>
            <a:off x="8357616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LFM · Geometric · Barker-13 · 161 tests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4320" y="3675887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BENEFITS</a:t>
            </a:r>
            <a:r>
              <a:rPr sz="1100" b="0">
                <a:solidFill>
                  <a:srgbClr val="667085"/>
                </a:solidFill>
                <a:latin typeface="Arial"/>
              </a:rPr>
              <a:t>   economic · environmental · strategic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" y="4069080"/>
            <a:ext cx="73152" cy="1325880"/>
          </a:xfrm>
          <a:prstGeom prst="rect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0352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3B8C7A"/>
                </a:solidFill>
                <a:latin typeface="Arial"/>
              </a:rPr>
              <a:t>ECONOMIC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0352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Low cost, off the shelf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30352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STM32, a standard op-amp and common sensors. No imported custom sonar electronics.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24528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224528" y="4069080"/>
            <a:ext cx="73152" cy="1325880"/>
          </a:xfrm>
          <a:prstGeom prst="rect">
            <a:avLst/>
          </a:prstGeom>
          <a:solidFill>
            <a:srgbClr val="5E8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480560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E8C61"/>
                </a:solidFill>
                <a:latin typeface="Arial"/>
              </a:rPr>
              <a:t>ENVIRONMENTAL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480560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Only the power the water needs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480560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Clear water pings at 35 % amplitude, not a fixed maximum: less acoustic noise for marine life.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174736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174736" y="4069080"/>
            <a:ext cx="73152" cy="132588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430768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83153"/>
                </a:solidFill>
                <a:latin typeface="Arial"/>
              </a:rPr>
              <a:t>STRATEGIC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430768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Sonar built in India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430768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Indigenous technology for port security, cable and pipeline inspection, and coastal monitoring.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274320" y="5596128"/>
            <a:ext cx="11649456" cy="0"/>
          </a:xfrm>
          <a:prstGeom prst="line">
            <a:avLst/>
          </a:prstGeom>
          <a:ln w="12700">
            <a:solidFill>
              <a:srgbClr val="183153"/>
            </a:solidFill>
          </a:ln>
        </p:spPr>
      </p:cxnSp>
      <p:sp>
        <p:nvSpPr>
          <p:cNvPr id="181" name="TextBox 180"/>
          <p:cNvSpPr txBox="1"/>
          <p:nvPr/>
        </p:nvSpPr>
        <p:spPr>
          <a:xfrm>
            <a:off x="274320" y="5669280"/>
            <a:ext cx="116494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83153"/>
                </a:solidFill>
                <a:latin typeface="Arial"/>
              </a:rPr>
              <a:t>One adaptive ping, any water</a:t>
            </a:r>
            <a:r>
              <a:rPr sz="1400" b="0">
                <a:solidFill>
                  <a:srgbClr val="667085"/>
                </a:solidFill>
                <a:latin typeface="Arial"/>
              </a:rPr>
              <a:t>   —   better data, less power, built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