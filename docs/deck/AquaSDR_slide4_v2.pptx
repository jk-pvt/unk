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9" r:id="rId5"/>
  </p:sldIdLst>
  <p:sldSz cx="12192000" cy="6858000"/>
  <p:notesSz cx="6858000" cy="91440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Garamond" pitchFamily="18" charset="0"/>
      <p:regular r:id="rId14"/>
      <p:bold r:id="rId15"/>
      <p:italic r:id="rId16"/>
    </p:embeddedFont>
    <p:embeddedFont>
      <p:font typeface="Oswald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6sIpfbBRMJiHKANEKy+deDLRG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3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7" name="Google Shape;127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swald"/>
                <a:buNone/>
              </a:p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4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05514" y="1"/>
            <a:ext cx="1486486" cy="165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0" name="Rounded Rectangle 129"/>
          <p:cNvSpPr/>
          <p:nvPr/>
        </p:nvSpPr>
        <p:spPr>
          <a:xfrm>
            <a:off x="274320" y="1188720"/>
            <a:ext cx="10287000" cy="932688"/>
          </a:xfrm>
          <a:prstGeom prst="roundRect">
            <a:avLst>
              <a:gd name="adj" fmla="val 12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57200" y="133502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3153"/>
                </a:solidFill>
                <a:latin typeface="Arial"/>
              </a:rPr>
              <a:t>FEASIBLE TODAY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7200" y="164592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rial"/>
              </a:rPr>
              <a:t>Already running on our STM32</a:t>
            </a:r>
          </a:p>
          <a:p>
            <a:pPr algn="l"/>
            <a:r>
              <a:rPr sz="900" b="0">
                <a:solidFill>
                  <a:srgbClr val="667085"/>
                </a:solidFill>
                <a:latin typeface="Arial"/>
              </a:rPr>
              <a:t>payload, built from shelf parts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706624" y="1316736"/>
            <a:ext cx="1755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3B8C7A"/>
                </a:solidFill>
                <a:latin typeface="Arial"/>
              </a:rPr>
              <a:t>42.00 kHz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706624" y="1755648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263238"/>
                </a:solidFill>
                <a:latin typeface="Arial"/>
              </a:rPr>
              <a:t>chirp lands exactly on target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4553712" y="1371600"/>
            <a:ext cx="0" cy="566928"/>
          </a:xfrm>
          <a:prstGeom prst="line">
            <a:avLst/>
          </a:prstGeom>
          <a:ln w="9525">
            <a:solidFill>
              <a:srgbClr val="D0D5DD"/>
            </a:solidFill>
          </a:ln>
        </p:spPr>
      </p:cxnSp>
      <p:sp>
        <p:nvSpPr>
          <p:cNvPr id="136" name="TextBox 135"/>
          <p:cNvSpPr txBox="1"/>
          <p:nvPr/>
        </p:nvSpPr>
        <p:spPr>
          <a:xfrm>
            <a:off x="4754879" y="1316736"/>
            <a:ext cx="1755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3B8C7A"/>
                </a:solidFill>
                <a:latin typeface="Arial"/>
              </a:rPr>
              <a:t>−35 dB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754879" y="1755648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263238"/>
                </a:solidFill>
                <a:latin typeface="Arial"/>
              </a:rPr>
              <a:t>leakage with Hann, from −14.6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6601968" y="1371600"/>
            <a:ext cx="0" cy="566928"/>
          </a:xfrm>
          <a:prstGeom prst="line">
            <a:avLst/>
          </a:prstGeom>
          <a:ln w="9525">
            <a:solidFill>
              <a:srgbClr val="D0D5DD"/>
            </a:solidFill>
          </a:ln>
        </p:spPr>
      </p:cxnSp>
      <p:sp>
        <p:nvSpPr>
          <p:cNvPr id="139" name="TextBox 138"/>
          <p:cNvSpPr txBox="1"/>
          <p:nvPr/>
        </p:nvSpPr>
        <p:spPr>
          <a:xfrm>
            <a:off x="6803136" y="1316736"/>
            <a:ext cx="1755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3B8C7A"/>
                </a:solidFill>
                <a:latin typeface="Arial"/>
              </a:rPr>
              <a:t>&lt; 100 ms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803136" y="1755648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263238"/>
                </a:solidFill>
                <a:latin typeface="Arial"/>
              </a:rPr>
              <a:t>water change → new ping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8650224" y="1371600"/>
            <a:ext cx="0" cy="566928"/>
          </a:xfrm>
          <a:prstGeom prst="line">
            <a:avLst/>
          </a:prstGeom>
          <a:ln w="9525">
            <a:solidFill>
              <a:srgbClr val="D0D5DD"/>
            </a:solidFill>
          </a:ln>
        </p:spPr>
      </p:cxnSp>
      <p:sp>
        <p:nvSpPr>
          <p:cNvPr id="142" name="TextBox 141"/>
          <p:cNvSpPr txBox="1"/>
          <p:nvPr/>
        </p:nvSpPr>
        <p:spPr>
          <a:xfrm>
            <a:off x="8851391" y="1316736"/>
            <a:ext cx="1755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3B8C7A"/>
                </a:solidFill>
                <a:latin typeface="Arial"/>
              </a:rP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851391" y="1755648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263238"/>
                </a:solidFill>
                <a:latin typeface="Arial"/>
              </a:rPr>
              <a:t>DMA dropouts in every capture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74320" y="23042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3153"/>
                </a:solidFill>
                <a:latin typeface="Arial"/>
              </a:rPr>
              <a:t>CHALLENGES </a:t>
            </a:r>
            <a:r>
              <a:rPr sz="1200" b="0">
                <a:solidFill>
                  <a:srgbClr val="667085"/>
                </a:solidFill>
                <a:latin typeface="Arial"/>
              </a:rPr>
              <a:t>and how we beat them</a:t>
            </a:r>
          </a:p>
        </p:txBody>
      </p:sp>
      <p:sp>
        <p:nvSpPr>
          <p:cNvPr id="145" name="Round Same Side Corner Rectangle 144"/>
          <p:cNvSpPr/>
          <p:nvPr/>
        </p:nvSpPr>
        <p:spPr>
          <a:xfrm>
            <a:off x="274320" y="2670048"/>
            <a:ext cx="2779776" cy="1298448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183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Round Same Side Corner Rectangle 145"/>
          <p:cNvSpPr/>
          <p:nvPr/>
        </p:nvSpPr>
        <p:spPr>
          <a:xfrm rot="10800000">
            <a:off x="274320" y="3968496"/>
            <a:ext cx="2779776" cy="1554480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185415" y="27432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800" b="1">
                <a:solidFill>
                  <a:srgbClr val="2E4A70"/>
                </a:solidFill>
                <a:latin typeface="Arial"/>
              </a:rPr>
              <a:t>01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75488" y="2852928"/>
            <a:ext cx="24140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AFC0D6"/>
                </a:solidFill>
                <a:latin typeface="Arial"/>
              </a:rPr>
              <a:t>RISK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75488" y="3072384"/>
            <a:ext cx="2414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Signal integrity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75488" y="3419856"/>
            <a:ext cx="2414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D6DEEA"/>
                </a:solidFill>
                <a:latin typeface="Arial"/>
              </a:rPr>
              <a:t>Stepped DAC output and sidelobes blur the echo</a:t>
            </a:r>
          </a:p>
        </p:txBody>
      </p:sp>
      <p:sp>
        <p:nvSpPr>
          <p:cNvPr id="151" name="Oval 150"/>
          <p:cNvSpPr/>
          <p:nvPr/>
        </p:nvSpPr>
        <p:spPr>
          <a:xfrm>
            <a:off x="475488" y="3785615"/>
            <a:ext cx="365760" cy="365760"/>
          </a:xfrm>
          <a:prstGeom prst="ellipse">
            <a:avLst/>
          </a:prstGeom>
          <a:solidFill>
            <a:srgbClr val="3B8C7A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75488" y="3785615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0976" y="400507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B8C7A"/>
                </a:solidFill>
                <a:latin typeface="Arial"/>
              </a:rPr>
              <a:t>STRATEGY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75488" y="4279392"/>
            <a:ext cx="24140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3153"/>
                </a:solidFill>
                <a:latin typeface="Arial"/>
              </a:rPr>
              <a:t>Hann / Hamming / Blackman windows + 70.7 kHz low-pass filter and op-amp stage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75488" y="5138928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C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75488" y="5138928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60" b="1">
                <a:solidFill>
                  <a:srgbClr val="3B8C7A"/>
                </a:solidFill>
                <a:latin typeface="Arial"/>
              </a:rPr>
              <a:t>→  WINDOWS PROVEN · FILTER NEXT</a:t>
            </a:r>
          </a:p>
        </p:txBody>
      </p:sp>
      <p:sp>
        <p:nvSpPr>
          <p:cNvPr id="157" name="Round Same Side Corner Rectangle 156"/>
          <p:cNvSpPr/>
          <p:nvPr/>
        </p:nvSpPr>
        <p:spPr>
          <a:xfrm>
            <a:off x="3234232" y="2670048"/>
            <a:ext cx="2779776" cy="1298448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183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Round Same Side Corner Rectangle 157"/>
          <p:cNvSpPr/>
          <p:nvPr/>
        </p:nvSpPr>
        <p:spPr>
          <a:xfrm rot="10800000">
            <a:off x="3234232" y="3968496"/>
            <a:ext cx="2779776" cy="1554480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145328" y="27432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800" b="1">
                <a:solidFill>
                  <a:srgbClr val="2E4A70"/>
                </a:solidFill>
                <a:latin typeface="Arial"/>
              </a:rPr>
              <a:t>02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435400" y="2852928"/>
            <a:ext cx="24140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AFC0D6"/>
                </a:solidFill>
                <a:latin typeface="Arial"/>
              </a:rPr>
              <a:t>RISK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435400" y="3072384"/>
            <a:ext cx="2414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Frequency &amp; transducer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435400" y="3419856"/>
            <a:ext cx="2414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D6DEEA"/>
                </a:solidFill>
                <a:latin typeface="Arial"/>
              </a:rPr>
              <a:t>PS band is 100–500 kHz; our bench runs at 40 kHz</a:t>
            </a:r>
          </a:p>
        </p:txBody>
      </p:sp>
      <p:sp>
        <p:nvSpPr>
          <p:cNvPr id="163" name="Oval 162"/>
          <p:cNvSpPr/>
          <p:nvPr/>
        </p:nvSpPr>
        <p:spPr>
          <a:xfrm>
            <a:off x="3435400" y="3785615"/>
            <a:ext cx="365760" cy="365760"/>
          </a:xfrm>
          <a:prstGeom prst="ellipse">
            <a:avLst/>
          </a:prstGeom>
          <a:solidFill>
            <a:srgbClr val="3B8C7A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435400" y="3785615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910888" y="400507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B8C7A"/>
                </a:solidFill>
                <a:latin typeface="Arial"/>
              </a:rPr>
              <a:t>STRATEGY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435400" y="4279392"/>
            <a:ext cx="24140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3153"/>
                </a:solidFill>
                <a:latin typeface="Arial"/>
              </a:rPr>
              <a:t>Same timer + DMA engine drives an external high-speed DAC and a matched driver stage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3435400" y="5138928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C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435400" y="5138928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60" b="1">
                <a:solidFill>
                  <a:srgbClr val="3B8C7A"/>
                </a:solidFill>
                <a:latin typeface="Arial"/>
              </a:rPr>
              <a:t>→  SCALE PATH READY</a:t>
            </a:r>
          </a:p>
        </p:txBody>
      </p:sp>
      <p:sp>
        <p:nvSpPr>
          <p:cNvPr id="169" name="Round Same Side Corner Rectangle 168"/>
          <p:cNvSpPr/>
          <p:nvPr/>
        </p:nvSpPr>
        <p:spPr>
          <a:xfrm>
            <a:off x="6194145" y="2670048"/>
            <a:ext cx="2779776" cy="1298448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183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Round Same Side Corner Rectangle 169"/>
          <p:cNvSpPr/>
          <p:nvPr/>
        </p:nvSpPr>
        <p:spPr>
          <a:xfrm rot="10800000">
            <a:off x="6194145" y="3968496"/>
            <a:ext cx="2779776" cy="1554480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105241" y="27432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800" b="1">
                <a:solidFill>
                  <a:srgbClr val="2E4A70"/>
                </a:solidFill>
                <a:latin typeface="Arial"/>
              </a:rPr>
              <a:t>03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395313" y="2852928"/>
            <a:ext cx="24140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AFC0D6"/>
                </a:solidFill>
                <a:latin typeface="Arial"/>
              </a:rPr>
              <a:t>RISK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395313" y="3072384"/>
            <a:ext cx="2414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Bad sensor data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395313" y="3419856"/>
            <a:ext cx="2414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D6DEEA"/>
                </a:solidFill>
                <a:latin typeface="Arial"/>
              </a:rPr>
              <a:t>One noisy reading could flip the ping</a:t>
            </a:r>
          </a:p>
        </p:txBody>
      </p:sp>
      <p:sp>
        <p:nvSpPr>
          <p:cNvPr id="175" name="Oval 174"/>
          <p:cNvSpPr/>
          <p:nvPr/>
        </p:nvSpPr>
        <p:spPr>
          <a:xfrm>
            <a:off x="6395313" y="3785615"/>
            <a:ext cx="365760" cy="365760"/>
          </a:xfrm>
          <a:prstGeom prst="ellipse">
            <a:avLst/>
          </a:prstGeom>
          <a:solidFill>
            <a:srgbClr val="3B8C7A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395313" y="3785615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870801" y="400507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B8C7A"/>
                </a:solidFill>
                <a:latin typeface="Arial"/>
              </a:rPr>
              <a:t>STRATEGY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95313" y="4279392"/>
            <a:ext cx="24140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3153"/>
                </a:solidFill>
                <a:latin typeface="Arial"/>
              </a:rPr>
              <a:t>Smoothing, hysteresis and out-of-range rejection before any change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395313" y="5138928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E8F3F0"/>
          </a:solidFill>
          <a:ln w="9525">
            <a:solidFill>
              <a:srgbClr val="3B8C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395313" y="5138928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60" b="1">
                <a:solidFill>
                  <a:srgbClr val="3B8C7A"/>
                </a:solidFill>
                <a:latin typeface="Arial"/>
              </a:rPr>
              <a:t>✓  IN PLACE</a:t>
            </a:r>
          </a:p>
        </p:txBody>
      </p:sp>
      <p:sp>
        <p:nvSpPr>
          <p:cNvPr id="181" name="Round Same Side Corner Rectangle 180"/>
          <p:cNvSpPr/>
          <p:nvPr/>
        </p:nvSpPr>
        <p:spPr>
          <a:xfrm>
            <a:off x="9154058" y="2670048"/>
            <a:ext cx="2779776" cy="1298448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183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Round Same Side Corner Rectangle 181"/>
          <p:cNvSpPr/>
          <p:nvPr/>
        </p:nvSpPr>
        <p:spPr>
          <a:xfrm rot="10800000">
            <a:off x="9154058" y="3968496"/>
            <a:ext cx="2779776" cy="1554480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1065154" y="27432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800" b="1">
                <a:solidFill>
                  <a:srgbClr val="2E4A70"/>
                </a:solidFill>
                <a:latin typeface="Arial"/>
              </a:rPr>
              <a:t>04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355226" y="2852928"/>
            <a:ext cx="24140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AFC0D6"/>
                </a:solidFill>
                <a:latin typeface="Arial"/>
              </a:rPr>
              <a:t>RISK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355226" y="3072384"/>
            <a:ext cx="2414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Power &amp; safety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9355226" y="3419856"/>
            <a:ext cx="2414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D6DEEA"/>
                </a:solidFill>
                <a:latin typeface="Arial"/>
              </a:rPr>
              <a:t>Long missions drain the battery; a ping must never run away</a:t>
            </a:r>
          </a:p>
        </p:txBody>
      </p:sp>
      <p:sp>
        <p:nvSpPr>
          <p:cNvPr id="187" name="Oval 186"/>
          <p:cNvSpPr/>
          <p:nvPr/>
        </p:nvSpPr>
        <p:spPr>
          <a:xfrm>
            <a:off x="9355226" y="3785615"/>
            <a:ext cx="365760" cy="365760"/>
          </a:xfrm>
          <a:prstGeom prst="ellipse">
            <a:avLst/>
          </a:prstGeom>
          <a:solidFill>
            <a:srgbClr val="3B8C7A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355226" y="3785615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830714" y="400507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B8C7A"/>
                </a:solidFill>
                <a:latin typeface="Arial"/>
              </a:rPr>
              <a:t>STRATEGY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355226" y="4279392"/>
            <a:ext cx="24140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3153"/>
                </a:solidFill>
                <a:latin typeface="Arial"/>
              </a:rPr>
              <a:t>DMA streams the pulse so the CPU stays free; 2 s auto-stop lease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9355226" y="5138928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E8F3F0"/>
          </a:solidFill>
          <a:ln w="9525">
            <a:solidFill>
              <a:srgbClr val="3B8C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355226" y="5138928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60" b="1">
                <a:solidFill>
                  <a:srgbClr val="3B8C7A"/>
                </a:solidFill>
                <a:latin typeface="Arial"/>
              </a:rPr>
              <a:t>✓  IN PLACE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74320" y="5641848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3153"/>
                </a:solidFill>
                <a:latin typeface="Arial"/>
              </a:rPr>
              <a:t>VIABLE</a:t>
            </a:r>
          </a:p>
        </p:txBody>
      </p:sp>
      <p:sp>
        <p:nvSpPr>
          <p:cNvPr id="194" name="Oval 193"/>
          <p:cNvSpPr/>
          <p:nvPr/>
        </p:nvSpPr>
        <p:spPr>
          <a:xfrm>
            <a:off x="1417320" y="5815584"/>
            <a:ext cx="109728" cy="109728"/>
          </a:xfrm>
          <a:prstGeom prst="ellipse">
            <a:avLst/>
          </a:prstGeom>
          <a:solidFill>
            <a:srgbClr val="3B8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618488" y="5678424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83153"/>
                </a:solidFill>
                <a:latin typeface="Arial"/>
              </a:rPr>
              <a:t>Low cost</a:t>
            </a:r>
          </a:p>
          <a:p>
            <a:pPr algn="l"/>
            <a:r>
              <a:rPr sz="880" b="0">
                <a:solidFill>
                  <a:srgbClr val="667085"/>
                </a:solidFill>
                <a:latin typeface="Arial"/>
              </a:rPr>
              <a:t>off-the-shelf STM32 + op-amp</a:t>
            </a:r>
          </a:p>
        </p:txBody>
      </p:sp>
      <p:sp>
        <p:nvSpPr>
          <p:cNvPr id="196" name="Oval 195"/>
          <p:cNvSpPr/>
          <p:nvPr/>
        </p:nvSpPr>
        <p:spPr>
          <a:xfrm>
            <a:off x="4050791" y="5815584"/>
            <a:ext cx="109728" cy="109728"/>
          </a:xfrm>
          <a:prstGeom prst="ellipse">
            <a:avLst/>
          </a:prstGeom>
          <a:solidFill>
            <a:srgbClr val="3B8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4251959" y="5678424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83153"/>
                </a:solidFill>
                <a:latin typeface="Arial"/>
              </a:rPr>
              <a:t>Software-defined</a:t>
            </a:r>
          </a:p>
          <a:p>
            <a:pPr algn="l"/>
            <a:r>
              <a:rPr sz="880" b="0">
                <a:solidFill>
                  <a:srgbClr val="667085"/>
                </a:solidFill>
                <a:latin typeface="Arial"/>
              </a:rPr>
              <a:t>new ping = firmware update</a:t>
            </a:r>
          </a:p>
        </p:txBody>
      </p:sp>
      <p:sp>
        <p:nvSpPr>
          <p:cNvPr id="198" name="Oval 197"/>
          <p:cNvSpPr/>
          <p:nvPr/>
        </p:nvSpPr>
        <p:spPr>
          <a:xfrm>
            <a:off x="6684264" y="5815584"/>
            <a:ext cx="109728" cy="109728"/>
          </a:xfrm>
          <a:prstGeom prst="ellipse">
            <a:avLst/>
          </a:prstGeom>
          <a:solidFill>
            <a:srgbClr val="3B8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885431" y="5678424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83153"/>
                </a:solidFill>
                <a:latin typeface="Arial"/>
              </a:rPr>
              <a:t>Scalable</a:t>
            </a:r>
          </a:p>
          <a:p>
            <a:pPr algn="l"/>
            <a:r>
              <a:rPr sz="880" b="0">
                <a:solidFill>
                  <a:srgbClr val="667085"/>
                </a:solidFill>
                <a:latin typeface="Arial"/>
              </a:rPr>
              <a:t>same design → 100–500 kHz</a:t>
            </a:r>
          </a:p>
        </p:txBody>
      </p:sp>
      <p:sp>
        <p:nvSpPr>
          <p:cNvPr id="200" name="Oval 199"/>
          <p:cNvSpPr/>
          <p:nvPr/>
        </p:nvSpPr>
        <p:spPr>
          <a:xfrm>
            <a:off x="9317736" y="5815584"/>
            <a:ext cx="109728" cy="109728"/>
          </a:xfrm>
          <a:prstGeom prst="ellipse">
            <a:avLst/>
          </a:prstGeom>
          <a:solidFill>
            <a:srgbClr val="3B8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518904" y="5678424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83153"/>
                </a:solidFill>
                <a:latin typeface="Arial"/>
              </a:rPr>
              <a:t>Reliable</a:t>
            </a:r>
          </a:p>
          <a:p>
            <a:pPr algn="l"/>
            <a:r>
              <a:rPr sz="880" b="0">
                <a:solidFill>
                  <a:srgbClr val="667085"/>
                </a:solidFill>
                <a:latin typeface="Arial"/>
              </a:rPr>
              <a:t>161 automated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Garamond</vt:lpstr>
      <vt:lpstr>Oswald</vt:lpstr>
      <vt:lpstr>Noto Sans Symbols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Crowdfunder</dc:creator>
  <cp:lastModifiedBy>DELL</cp:lastModifiedBy>
  <cp:revision>3</cp:revision>
  <dcterms:created xsi:type="dcterms:W3CDTF">2013-12-12T18:46:50Z</dcterms:created>
  <dcterms:modified xsi:type="dcterms:W3CDTF">2026-08-20T05:29:49Z</dcterms:modified>
</cp:coreProperties>
</file>