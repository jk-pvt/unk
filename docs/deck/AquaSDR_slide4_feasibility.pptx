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9" r:id="rId5"/>
  </p:sldIdLst>
  <p:sldSz cx="12192000" cy="6858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Garamond" pitchFamily="18" charset="0"/>
      <p:regular r:id="rId14"/>
      <p:bold r:id="rId15"/>
      <p:italic r:id="rId16"/>
    </p:embeddedFont>
    <p:embeddedFont>
      <p:font typeface="Oswald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6sIpfbBRMJiHKANEKy+deDLR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3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AquaSDR · FEASIBILITY AND VIABILITY</a:t>
            </a:r>
            <a:endParaRPr/>
          </a:p>
        </p:txBody>
      </p:sp>
      <p:sp>
        <p:nvSpPr>
          <p:cNvPr id="127" name="Google Shape;127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4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0" name="TextBox 129"/>
          <p:cNvSpPr txBox="1"/>
          <p:nvPr/>
        </p:nvSpPr>
        <p:spPr>
          <a:xfrm>
            <a:off x="1828800" y="850392"/>
            <a:ext cx="8503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67085"/>
                </a:solidFill>
                <a:latin typeface="Arial"/>
              </a:rPr>
              <a:t>Proven on our hardware  ·  risks identified  ·  a mitigation for each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74320" y="1188720"/>
            <a:ext cx="5760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ANALYSIS OF FEASIBILITY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74320" y="1353312"/>
            <a:ext cx="5760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667085"/>
                </a:solidFill>
                <a:latin typeface="Arial"/>
              </a:rPr>
              <a:t>Readiness of every subsystem, from design to instrument validation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274320" y="1536192"/>
            <a:ext cx="5760720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134" name="Rectangle 133"/>
          <p:cNvSpPr/>
          <p:nvPr/>
        </p:nvSpPr>
        <p:spPr>
          <a:xfrm>
            <a:off x="274320" y="1645920"/>
            <a:ext cx="5760720" cy="32918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148839" y="167335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DESIGNED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926079" y="167335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SIMULATED</a:t>
            </a:r>
          </a:p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/ TESTED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703320" y="167335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BUILT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480559" y="167335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ON-BOARD</a:t>
            </a:r>
          </a:p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VERIFIED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257800" y="167335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INSTRUMENT</a:t>
            </a:r>
          </a:p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VALIDATED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274320" y="1975104"/>
            <a:ext cx="5760720" cy="0"/>
          </a:xfrm>
          <a:prstGeom prst="line">
            <a:avLst/>
          </a:prstGeom>
          <a:ln w="9525">
            <a:solidFill>
              <a:srgbClr val="183153"/>
            </a:solidFill>
          </a:ln>
          <a:effectLst/>
        </p:spPr>
      </p:cxnSp>
      <p:sp>
        <p:nvSpPr>
          <p:cNvPr id="141" name="TextBox 140"/>
          <p:cNvSpPr txBox="1"/>
          <p:nvPr/>
        </p:nvSpPr>
        <p:spPr>
          <a:xfrm>
            <a:off x="310896" y="1988820"/>
            <a:ext cx="181965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Adaptive firmware engine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10896" y="2107692"/>
            <a:ext cx="181965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C/C++ on STM32F446RE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2606039" y="2105406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44" name="Oval 143"/>
          <p:cNvSpPr/>
          <p:nvPr/>
        </p:nvSpPr>
        <p:spPr>
          <a:xfrm>
            <a:off x="2468879" y="2036826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>
            <a:off x="3383279" y="2105406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46" name="Oval 145"/>
          <p:cNvSpPr/>
          <p:nvPr/>
        </p:nvSpPr>
        <p:spPr>
          <a:xfrm>
            <a:off x="3246119" y="2036826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>
            <a:off x="4160520" y="2105406"/>
            <a:ext cx="640079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48" name="Oval 147"/>
          <p:cNvSpPr/>
          <p:nvPr/>
        </p:nvSpPr>
        <p:spPr>
          <a:xfrm>
            <a:off x="4023359" y="2036826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800599" y="2036826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577840" y="2036826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1" name="Connector 150"/>
          <p:cNvCxnSpPr/>
          <p:nvPr/>
        </p:nvCxnSpPr>
        <p:spPr>
          <a:xfrm>
            <a:off x="274320" y="2235708"/>
            <a:ext cx="576072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152" name="TextBox 151"/>
          <p:cNvSpPr txBox="1"/>
          <p:nvPr/>
        </p:nvSpPr>
        <p:spPr>
          <a:xfrm>
            <a:off x="310896" y="2249424"/>
            <a:ext cx="181965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Timer + DMA + DAC streaming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10896" y="2368296"/>
            <a:ext cx="181965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TIM6 → DMA1 → DAC1 · 1 MS/s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2606039" y="2366010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55" name="Oval 154"/>
          <p:cNvSpPr/>
          <p:nvPr/>
        </p:nvSpPr>
        <p:spPr>
          <a:xfrm>
            <a:off x="2468879" y="2297430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>
            <a:off x="3383279" y="2366010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57" name="Oval 156"/>
          <p:cNvSpPr/>
          <p:nvPr/>
        </p:nvSpPr>
        <p:spPr>
          <a:xfrm>
            <a:off x="3246119" y="2297430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>
            <a:off x="4160520" y="2366010"/>
            <a:ext cx="640079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59" name="Oval 158"/>
          <p:cNvSpPr/>
          <p:nvPr/>
        </p:nvSpPr>
        <p:spPr>
          <a:xfrm>
            <a:off x="4023359" y="2297430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800599" y="2297430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577840" y="229743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274320" y="2496312"/>
            <a:ext cx="576072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163" name="TextBox 162"/>
          <p:cNvSpPr txBox="1"/>
          <p:nvPr/>
        </p:nvSpPr>
        <p:spPr>
          <a:xfrm>
            <a:off x="310896" y="2510028"/>
            <a:ext cx="181965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LFM · geometric · Barker-13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10896" y="2628900"/>
            <a:ext cx="181965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with Hann / Hamming / Blackman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2606039" y="2626614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66" name="Oval 165"/>
          <p:cNvSpPr/>
          <p:nvPr/>
        </p:nvSpPr>
        <p:spPr>
          <a:xfrm>
            <a:off x="2468879" y="2558034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7" name="Connector 166"/>
          <p:cNvCxnSpPr/>
          <p:nvPr/>
        </p:nvCxnSpPr>
        <p:spPr>
          <a:xfrm>
            <a:off x="3383279" y="2626614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68" name="Oval 167"/>
          <p:cNvSpPr/>
          <p:nvPr/>
        </p:nvSpPr>
        <p:spPr>
          <a:xfrm>
            <a:off x="3246119" y="2558034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9" name="Connector 168"/>
          <p:cNvCxnSpPr/>
          <p:nvPr/>
        </p:nvCxnSpPr>
        <p:spPr>
          <a:xfrm>
            <a:off x="4160520" y="2626614"/>
            <a:ext cx="640079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70" name="Oval 169"/>
          <p:cNvSpPr/>
          <p:nvPr/>
        </p:nvSpPr>
        <p:spPr>
          <a:xfrm>
            <a:off x="4023359" y="2558034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800599" y="2558034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577840" y="2558034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>
            <a:off x="274320" y="2756916"/>
            <a:ext cx="576072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174" name="TextBox 173"/>
          <p:cNvSpPr txBox="1"/>
          <p:nvPr/>
        </p:nvSpPr>
        <p:spPr>
          <a:xfrm>
            <a:off x="310896" y="2770632"/>
            <a:ext cx="181965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Sensor input + adaptation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10896" y="2889504"/>
            <a:ext cx="181965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CLEAR / TRANSITION / MURKY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2606039" y="2887218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77" name="Oval 176"/>
          <p:cNvSpPr/>
          <p:nvPr/>
        </p:nvSpPr>
        <p:spPr>
          <a:xfrm>
            <a:off x="2468879" y="2818638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8" name="Connector 177"/>
          <p:cNvCxnSpPr/>
          <p:nvPr/>
        </p:nvCxnSpPr>
        <p:spPr>
          <a:xfrm>
            <a:off x="3383279" y="2887218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79" name="Oval 178"/>
          <p:cNvSpPr/>
          <p:nvPr/>
        </p:nvSpPr>
        <p:spPr>
          <a:xfrm>
            <a:off x="3246119" y="2818638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>
            <a:off x="4160520" y="2887218"/>
            <a:ext cx="640079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81" name="Oval 180"/>
          <p:cNvSpPr/>
          <p:nvPr/>
        </p:nvSpPr>
        <p:spPr>
          <a:xfrm>
            <a:off x="4023359" y="2818638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800599" y="2818638"/>
            <a:ext cx="137160" cy="1371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839919" y="2857957"/>
            <a:ext cx="58521" cy="58521"/>
          </a:xfrm>
          <a:prstGeom prst="ellipse">
            <a:avLst/>
          </a:prstGeom>
          <a:solidFill>
            <a:srgbClr val="1831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577840" y="281863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>
            <a:off x="274320" y="3017520"/>
            <a:ext cx="576072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186" name="TextBox 185"/>
          <p:cNvSpPr txBox="1"/>
          <p:nvPr/>
        </p:nvSpPr>
        <p:spPr>
          <a:xfrm>
            <a:off x="310896" y="3031236"/>
            <a:ext cx="181965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Analog front end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10896" y="3150108"/>
            <a:ext cx="181965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Sallen-Key LPF + TLV9062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2606039" y="3147822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89" name="Oval 188"/>
          <p:cNvSpPr/>
          <p:nvPr/>
        </p:nvSpPr>
        <p:spPr>
          <a:xfrm>
            <a:off x="2468879" y="3079241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246119" y="3079241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4023359" y="3079241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800599" y="3079241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5577840" y="3079241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4" name="Connector 193"/>
          <p:cNvCxnSpPr/>
          <p:nvPr/>
        </p:nvCxnSpPr>
        <p:spPr>
          <a:xfrm>
            <a:off x="274320" y="3278124"/>
            <a:ext cx="576072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195" name="TextBox 194"/>
          <p:cNvSpPr txBox="1"/>
          <p:nvPr/>
        </p:nvSpPr>
        <p:spPr>
          <a:xfrm>
            <a:off x="310896" y="3291840"/>
            <a:ext cx="181965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Payload enclosure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10896" y="3410712"/>
            <a:ext cx="181965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acrylic hull · printed AUV pod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2606039" y="3408426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98" name="Oval 197"/>
          <p:cNvSpPr/>
          <p:nvPr/>
        </p:nvSpPr>
        <p:spPr>
          <a:xfrm>
            <a:off x="2468879" y="3339846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>
            <a:off x="3383279" y="3408426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200" name="Oval 199"/>
          <p:cNvSpPr/>
          <p:nvPr/>
        </p:nvSpPr>
        <p:spPr>
          <a:xfrm>
            <a:off x="3246119" y="3339846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4023359" y="3339846"/>
            <a:ext cx="137160" cy="1371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062679" y="3379165"/>
            <a:ext cx="58521" cy="58521"/>
          </a:xfrm>
          <a:prstGeom prst="ellipse">
            <a:avLst/>
          </a:prstGeom>
          <a:solidFill>
            <a:srgbClr val="1831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686299" y="3335274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0" i="0">
                <a:solidFill>
                  <a:srgbClr val="C3C9D3"/>
                </a:solidFill>
                <a:latin typeface="Arial"/>
              </a:rPr>
              <a:t>n/a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463540" y="3335274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0" i="0">
                <a:solidFill>
                  <a:srgbClr val="C3C9D3"/>
                </a:solidFill>
                <a:latin typeface="Arial"/>
              </a:rPr>
              <a:t>n/a</a:t>
            </a:r>
          </a:p>
        </p:txBody>
      </p:sp>
      <p:cxnSp>
        <p:nvCxnSpPr>
          <p:cNvPr id="205" name="Connector 204"/>
          <p:cNvCxnSpPr/>
          <p:nvPr/>
        </p:nvCxnSpPr>
        <p:spPr>
          <a:xfrm>
            <a:off x="274320" y="3538728"/>
            <a:ext cx="576072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310896" y="3552444"/>
            <a:ext cx="181965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Low-power operation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10896" y="3671315"/>
            <a:ext cx="181965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DMA-driven, CPU free per sample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2606039" y="3669030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209" name="Oval 208"/>
          <p:cNvSpPr/>
          <p:nvPr/>
        </p:nvSpPr>
        <p:spPr>
          <a:xfrm>
            <a:off x="2468879" y="3600450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3246119" y="3600450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3909059" y="3595878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0" i="0">
                <a:solidFill>
                  <a:srgbClr val="C3C9D3"/>
                </a:solidFill>
                <a:latin typeface="Arial"/>
              </a:rPr>
              <a:t>n/a</a:t>
            </a:r>
          </a:p>
        </p:txBody>
      </p:sp>
      <p:sp>
        <p:nvSpPr>
          <p:cNvPr id="212" name="Oval 211"/>
          <p:cNvSpPr/>
          <p:nvPr/>
        </p:nvSpPr>
        <p:spPr>
          <a:xfrm>
            <a:off x="4800599" y="360045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5577840" y="360045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274320" y="3799332"/>
            <a:ext cx="576072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15" name="Oval 214"/>
          <p:cNvSpPr/>
          <p:nvPr/>
        </p:nvSpPr>
        <p:spPr>
          <a:xfrm>
            <a:off x="278892" y="3849624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457200" y="3849624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Arial"/>
              </a:rPr>
              <a:t>reached</a:t>
            </a:r>
          </a:p>
        </p:txBody>
      </p:sp>
      <p:sp>
        <p:nvSpPr>
          <p:cNvPr id="217" name="Oval 216"/>
          <p:cNvSpPr/>
          <p:nvPr/>
        </p:nvSpPr>
        <p:spPr>
          <a:xfrm>
            <a:off x="1056132" y="3849624"/>
            <a:ext cx="137160" cy="1371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095451" y="3888943"/>
            <a:ext cx="58521" cy="58521"/>
          </a:xfrm>
          <a:prstGeom prst="ellipse">
            <a:avLst/>
          </a:prstGeom>
          <a:solidFill>
            <a:srgbClr val="1831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234439" y="3849624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Arial"/>
              </a:rPr>
              <a:t>partly (A0 shown in CLEAR; printed pod next)</a:t>
            </a:r>
          </a:p>
        </p:txBody>
      </p:sp>
      <p:sp>
        <p:nvSpPr>
          <p:cNvPr id="220" name="Oval 219"/>
          <p:cNvSpPr/>
          <p:nvPr/>
        </p:nvSpPr>
        <p:spPr>
          <a:xfrm>
            <a:off x="3570732" y="3849624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3749039" y="3849624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Arial"/>
              </a:rPr>
              <a:t>next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74320" y="4091939"/>
            <a:ext cx="5760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PROVEN ON THE BOARD </a:t>
            </a:r>
            <a:r>
              <a:rPr sz="720" b="0" i="0">
                <a:solidFill>
                  <a:srgbClr val="667085"/>
                </a:solidFill>
                <a:latin typeface="Arial"/>
              </a:rPr>
              <a:t>· MCU ADC capture and firmware telemetry, not oscilloscope data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274320" y="4293107"/>
            <a:ext cx="1874519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274320" y="4293107"/>
            <a:ext cx="45720" cy="530352"/>
          </a:xfrm>
          <a:prstGeom prst="rect">
            <a:avLst/>
          </a:prstGeom>
          <a:solidFill>
            <a:srgbClr val="3B8C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402336" y="4320540"/>
            <a:ext cx="1691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83153"/>
                </a:solidFill>
                <a:latin typeface="Arial"/>
              </a:rPr>
              <a:t>42.00 kHz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02336" y="4553712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captured centre = calculated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02336" y="4677155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LFM · Hann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2217420" y="4293107"/>
            <a:ext cx="1874519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2217420" y="4293107"/>
            <a:ext cx="45720" cy="530352"/>
          </a:xfrm>
          <a:prstGeom prst="rect">
            <a:avLst/>
          </a:prstGeom>
          <a:solidFill>
            <a:srgbClr val="3B8C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2345436" y="4320540"/>
            <a:ext cx="1691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83153"/>
                </a:solidFill>
                <a:latin typeface="Arial"/>
              </a:rPr>
              <a:t>−14.6 → −35 dB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345436" y="4553712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spectral leakage, rect → Hann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345436" y="4677155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window effect captured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4160520" y="4293107"/>
            <a:ext cx="1874519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4160520" y="4293107"/>
            <a:ext cx="45720" cy="530352"/>
          </a:xfrm>
          <a:prstGeom prst="rect">
            <a:avLst/>
          </a:prstGeom>
          <a:solidFill>
            <a:srgbClr val="3B8C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288536" y="4320540"/>
            <a:ext cx="1691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83153"/>
                </a:solidFill>
                <a:latin typeface="Arial"/>
              </a:rPr>
              <a:t>−21.4 dB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288536" y="4553712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Barker-13 sidelobe captured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288536" y="4677155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−21.7 dB calculated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274320" y="4878323"/>
            <a:ext cx="1874519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274320" y="4878323"/>
            <a:ext cx="45720" cy="530352"/>
          </a:xfrm>
          <a:prstGeom prst="rect">
            <a:avLst/>
          </a:prstGeom>
          <a:solidFill>
            <a:srgbClr val="3B8C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402336" y="4905755"/>
            <a:ext cx="1691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83153"/>
                </a:solidFill>
                <a:latin typeface="Arial"/>
              </a:rPr>
              <a:t>330 / 330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02336" y="5138927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commands acknowledged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402336" y="5262371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0 lost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2217420" y="4878323"/>
            <a:ext cx="1874519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217420" y="4878323"/>
            <a:ext cx="45720" cy="530352"/>
          </a:xfrm>
          <a:prstGeom prst="rect">
            <a:avLst/>
          </a:prstGeom>
          <a:solidFill>
            <a:srgbClr val="3B8C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2345436" y="4905755"/>
            <a:ext cx="1691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83153"/>
                </a:solidFill>
                <a:latin typeface="Arial"/>
              </a:rPr>
              <a:t>0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2345436" y="5138927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DMA underruns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2345436" y="5262371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across every capture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4160520" y="4878323"/>
            <a:ext cx="1874519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160520" y="4878323"/>
            <a:ext cx="45720" cy="530352"/>
          </a:xfrm>
          <a:prstGeom prst="rect">
            <a:avLst/>
          </a:prstGeom>
          <a:solidFill>
            <a:srgbClr val="3B8C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4288536" y="4905755"/>
            <a:ext cx="1691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83153"/>
                </a:solidFill>
                <a:latin typeface="Arial"/>
              </a:rPr>
              <a:t>&lt; 100 ms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4288536" y="5138927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decision → new waveform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288536" y="5262371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86–97 ms measured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6263640" y="1188720"/>
            <a:ext cx="4343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CHALLENGES &amp; RISKS  →  STRATEGIES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6263640" y="1353312"/>
            <a:ext cx="43434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667085"/>
                </a:solidFill>
                <a:latin typeface="Arial"/>
              </a:rPr>
              <a:t>Each risk paired with how we overcome it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6263640" y="1536192"/>
            <a:ext cx="4343400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256" name="Rectangle 255"/>
          <p:cNvSpPr/>
          <p:nvPr/>
        </p:nvSpPr>
        <p:spPr>
          <a:xfrm>
            <a:off x="6263640" y="1645920"/>
            <a:ext cx="5715000" cy="23774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6336792" y="1645920"/>
            <a:ext cx="2103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20" b="1" i="0">
                <a:solidFill>
                  <a:srgbClr val="183153"/>
                </a:solidFill>
                <a:latin typeface="Arial"/>
              </a:rPr>
              <a:t>CHALLENGE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8686799" y="1645920"/>
            <a:ext cx="26151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20" b="1" i="0">
                <a:solidFill>
                  <a:srgbClr val="183153"/>
                </a:solidFill>
                <a:latin typeface="Arial"/>
              </a:rPr>
              <a:t>STRATEGY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1320272" y="1645920"/>
            <a:ext cx="640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1" i="0">
                <a:solidFill>
                  <a:srgbClr val="183153"/>
                </a:solidFill>
                <a:latin typeface="Arial"/>
              </a:rPr>
              <a:t>STATUS</a:t>
            </a:r>
          </a:p>
        </p:txBody>
      </p:sp>
      <p:cxnSp>
        <p:nvCxnSpPr>
          <p:cNvPr id="260" name="Connector 259"/>
          <p:cNvCxnSpPr/>
          <p:nvPr/>
        </p:nvCxnSpPr>
        <p:spPr>
          <a:xfrm>
            <a:off x="6263640" y="1883664"/>
            <a:ext cx="5715000" cy="0"/>
          </a:xfrm>
          <a:prstGeom prst="line">
            <a:avLst/>
          </a:prstGeom>
          <a:ln w="9525">
            <a:solidFill>
              <a:srgbClr val="183153"/>
            </a:solidFill>
          </a:ln>
          <a:effectLst/>
        </p:spPr>
      </p:cxnSp>
      <p:sp>
        <p:nvSpPr>
          <p:cNvPr id="261" name="TextBox 260"/>
          <p:cNvSpPr txBox="1"/>
          <p:nvPr/>
        </p:nvSpPr>
        <p:spPr>
          <a:xfrm>
            <a:off x="6336792" y="1947672"/>
            <a:ext cx="20116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Frequency scale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6336792" y="2112264"/>
            <a:ext cx="2011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PS cites 100–500 kHz; bench transducer is 40 kHz</a:t>
            </a:r>
          </a:p>
        </p:txBody>
      </p:sp>
      <p:cxnSp>
        <p:nvCxnSpPr>
          <p:cNvPr id="263" name="Connector 262"/>
          <p:cNvCxnSpPr/>
          <p:nvPr/>
        </p:nvCxnSpPr>
        <p:spPr>
          <a:xfrm>
            <a:off x="8412480" y="2137410"/>
            <a:ext cx="201167" cy="0"/>
          </a:xfrm>
          <a:prstGeom prst="line">
            <a:avLst/>
          </a:prstGeom>
          <a:ln w="15875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264" name="TextBox 263"/>
          <p:cNvSpPr txBox="1"/>
          <p:nvPr/>
        </p:nvSpPr>
        <p:spPr>
          <a:xfrm>
            <a:off x="8686799" y="1956816"/>
            <a:ext cx="2615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263238"/>
                </a:solidFill>
                <a:latin typeface="Arial"/>
              </a:rPr>
              <a:t>Frequency-agnostic policy table; external high-speed DAC on the same TIM + DMA path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1338560" y="2039112"/>
            <a:ext cx="60350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8A7B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1338560" y="2039112"/>
            <a:ext cx="60350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 i="0">
                <a:solidFill>
                  <a:srgbClr val="8A7BAF"/>
                </a:solidFill>
                <a:latin typeface="Arial"/>
              </a:rPr>
              <a:t>SCALE PATH</a:t>
            </a:r>
          </a:p>
        </p:txBody>
      </p:sp>
      <p:cxnSp>
        <p:nvCxnSpPr>
          <p:cNvPr id="267" name="Connector 266"/>
          <p:cNvCxnSpPr/>
          <p:nvPr/>
        </p:nvCxnSpPr>
        <p:spPr>
          <a:xfrm>
            <a:off x="6263640" y="2391156"/>
            <a:ext cx="571500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68" name="TextBox 267"/>
          <p:cNvSpPr txBox="1"/>
          <p:nvPr/>
        </p:nvSpPr>
        <p:spPr>
          <a:xfrm>
            <a:off x="6336792" y="2455164"/>
            <a:ext cx="20116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No oscilloscope on hand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6336792" y="2619756"/>
            <a:ext cx="2011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external validation not yet possible</a:t>
            </a:r>
          </a:p>
        </p:txBody>
      </p:sp>
      <p:cxnSp>
        <p:nvCxnSpPr>
          <p:cNvPr id="270" name="Connector 269"/>
          <p:cNvCxnSpPr/>
          <p:nvPr/>
        </p:nvCxnSpPr>
        <p:spPr>
          <a:xfrm>
            <a:off x="8412480" y="2644902"/>
            <a:ext cx="201167" cy="0"/>
          </a:xfrm>
          <a:prstGeom prst="line">
            <a:avLst/>
          </a:prstGeom>
          <a:ln w="15875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271" name="TextBox 270"/>
          <p:cNvSpPr txBox="1"/>
          <p:nvPr/>
        </p:nvSpPr>
        <p:spPr>
          <a:xfrm>
            <a:off x="8686799" y="2464308"/>
            <a:ext cx="2615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263238"/>
                </a:solidFill>
                <a:latin typeface="Arial"/>
              </a:rPr>
              <a:t>On-board ADC + DMA capture with FFT and matched filter now; lab scope at judging, CSV import ready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1338560" y="2546604"/>
            <a:ext cx="60350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1338560" y="2546604"/>
            <a:ext cx="60350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 i="0">
                <a:solidFill>
                  <a:srgbClr val="183153"/>
                </a:solidFill>
                <a:latin typeface="Arial"/>
              </a:rPr>
              <a:t>IN PLACE</a:t>
            </a:r>
          </a:p>
        </p:txBody>
      </p:sp>
      <p:cxnSp>
        <p:nvCxnSpPr>
          <p:cNvPr id="274" name="Connector 273"/>
          <p:cNvCxnSpPr/>
          <p:nvPr/>
        </p:nvCxnSpPr>
        <p:spPr>
          <a:xfrm>
            <a:off x="6263640" y="2898648"/>
            <a:ext cx="571500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75" name="TextBox 274"/>
          <p:cNvSpPr txBox="1"/>
          <p:nvPr/>
        </p:nvSpPr>
        <p:spPr>
          <a:xfrm>
            <a:off x="6336792" y="2962656"/>
            <a:ext cx="20116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Analog stage not yet built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336792" y="3127248"/>
            <a:ext cx="2011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filter + op-amp still to assemble</a:t>
            </a:r>
          </a:p>
        </p:txBody>
      </p:sp>
      <p:cxnSp>
        <p:nvCxnSpPr>
          <p:cNvPr id="277" name="Connector 276"/>
          <p:cNvCxnSpPr/>
          <p:nvPr/>
        </p:nvCxnSpPr>
        <p:spPr>
          <a:xfrm>
            <a:off x="8412480" y="3152394"/>
            <a:ext cx="201167" cy="0"/>
          </a:xfrm>
          <a:prstGeom prst="line">
            <a:avLst/>
          </a:prstGeom>
          <a:ln w="15875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278" name="TextBox 277"/>
          <p:cNvSpPr txBox="1"/>
          <p:nvPr/>
        </p:nvSpPr>
        <p:spPr>
          <a:xfrm>
            <a:off x="8686799" y="2971800"/>
            <a:ext cx="2615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263238"/>
                </a:solidFill>
                <a:latin typeface="Arial"/>
              </a:rPr>
              <a:t>Two independent models agree within 0.02 dB in band; stock-value parts list ready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11338560" y="3054096"/>
            <a:ext cx="60350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8A7B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11338560" y="3054096"/>
            <a:ext cx="60350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 i="0">
                <a:solidFill>
                  <a:srgbClr val="8A7BAF"/>
                </a:solidFill>
                <a:latin typeface="Arial"/>
              </a:rPr>
              <a:t>NEXT BUILD</a:t>
            </a:r>
          </a:p>
        </p:txBody>
      </p:sp>
      <p:cxnSp>
        <p:nvCxnSpPr>
          <p:cNvPr id="281" name="Connector 280"/>
          <p:cNvCxnSpPr/>
          <p:nvPr/>
        </p:nvCxnSpPr>
        <p:spPr>
          <a:xfrm>
            <a:off x="6263640" y="3406140"/>
            <a:ext cx="571500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82" name="TextBox 281"/>
          <p:cNvSpPr txBox="1"/>
          <p:nvPr/>
        </p:nvSpPr>
        <p:spPr>
          <a:xfrm>
            <a:off x="6336792" y="3470148"/>
            <a:ext cx="20116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Noisy or drifting sensor input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6336792" y="3634740"/>
            <a:ext cx="2011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a bad reading could change the ping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8412480" y="3659886"/>
            <a:ext cx="201167" cy="0"/>
          </a:xfrm>
          <a:prstGeom prst="line">
            <a:avLst/>
          </a:prstGeom>
          <a:ln w="15875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285" name="TextBox 284"/>
          <p:cNvSpPr txBox="1"/>
          <p:nvPr/>
        </p:nvSpPr>
        <p:spPr>
          <a:xfrm>
            <a:off x="8686799" y="3479292"/>
            <a:ext cx="2615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263238"/>
                </a:solidFill>
                <a:latin typeface="Arial"/>
              </a:rPr>
              <a:t>Smoothing, hysteresis, stale and out-of-range rejection; TDS labelled as a proxy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11338560" y="3561588"/>
            <a:ext cx="60350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1338560" y="3561588"/>
            <a:ext cx="60350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 i="0">
                <a:solidFill>
                  <a:srgbClr val="183153"/>
                </a:solidFill>
                <a:latin typeface="Arial"/>
              </a:rPr>
              <a:t>IN PLACE</a:t>
            </a:r>
          </a:p>
        </p:txBody>
      </p:sp>
      <p:cxnSp>
        <p:nvCxnSpPr>
          <p:cNvPr id="288" name="Connector 287"/>
          <p:cNvCxnSpPr/>
          <p:nvPr/>
        </p:nvCxnSpPr>
        <p:spPr>
          <a:xfrm>
            <a:off x="6263640" y="3913632"/>
            <a:ext cx="571500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89" name="TextBox 288"/>
          <p:cNvSpPr txBox="1"/>
          <p:nvPr/>
        </p:nvSpPr>
        <p:spPr>
          <a:xfrm>
            <a:off x="6336792" y="3977640"/>
            <a:ext cx="20116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CPU load and battery budget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6336792" y="4142232"/>
            <a:ext cx="2011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per-sample trig math is expensive</a:t>
            </a:r>
          </a:p>
        </p:txBody>
      </p:sp>
      <p:cxnSp>
        <p:nvCxnSpPr>
          <p:cNvPr id="291" name="Connector 290"/>
          <p:cNvCxnSpPr/>
          <p:nvPr/>
        </p:nvCxnSpPr>
        <p:spPr>
          <a:xfrm>
            <a:off x="8412480" y="4167378"/>
            <a:ext cx="201167" cy="0"/>
          </a:xfrm>
          <a:prstGeom prst="line">
            <a:avLst/>
          </a:prstGeom>
          <a:ln w="15875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292" name="TextBox 291"/>
          <p:cNvSpPr txBox="1"/>
          <p:nvPr/>
        </p:nvSpPr>
        <p:spPr>
          <a:xfrm>
            <a:off x="8686799" y="3986784"/>
            <a:ext cx="2615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263238"/>
                </a:solidFill>
                <a:latin typeface="Arial"/>
              </a:rPr>
              <a:t>Next pulse computed between pings, DMA streams it; inline-meter power test planned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11338560" y="4069080"/>
            <a:ext cx="60350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11338560" y="4069080"/>
            <a:ext cx="60350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 i="0">
                <a:solidFill>
                  <a:srgbClr val="183153"/>
                </a:solidFill>
                <a:latin typeface="Arial"/>
              </a:rPr>
              <a:t>IN PLACE</a:t>
            </a:r>
          </a:p>
        </p:txBody>
      </p:sp>
      <p:cxnSp>
        <p:nvCxnSpPr>
          <p:cNvPr id="295" name="Connector 294"/>
          <p:cNvCxnSpPr/>
          <p:nvPr/>
        </p:nvCxnSpPr>
        <p:spPr>
          <a:xfrm>
            <a:off x="6263640" y="4421124"/>
            <a:ext cx="571500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96" name="TextBox 295"/>
          <p:cNvSpPr txBox="1"/>
          <p:nvPr/>
        </p:nvSpPr>
        <p:spPr>
          <a:xfrm>
            <a:off x="6336792" y="4485132"/>
            <a:ext cx="20116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Loss of control link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6336792" y="4649724"/>
            <a:ext cx="2011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ping must never run unattended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8412480" y="4674870"/>
            <a:ext cx="201167" cy="0"/>
          </a:xfrm>
          <a:prstGeom prst="line">
            <a:avLst/>
          </a:prstGeom>
          <a:ln w="15875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299" name="TextBox 298"/>
          <p:cNvSpPr txBox="1"/>
          <p:nvPr/>
        </p:nvSpPr>
        <p:spPr>
          <a:xfrm>
            <a:off x="8686799" y="4494276"/>
            <a:ext cx="2615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263238"/>
                </a:solidFill>
                <a:latin typeface="Arial"/>
              </a:rPr>
              <a:t>Output off at boot, 2 s control lease auto-stop, DAC parked mid-scale on any fault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11338560" y="4576572"/>
            <a:ext cx="60350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1338560" y="4576572"/>
            <a:ext cx="60350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 i="0">
                <a:solidFill>
                  <a:srgbClr val="183153"/>
                </a:solidFill>
                <a:latin typeface="Arial"/>
              </a:rPr>
              <a:t>IN PLACE</a:t>
            </a:r>
          </a:p>
        </p:txBody>
      </p:sp>
      <p:cxnSp>
        <p:nvCxnSpPr>
          <p:cNvPr id="302" name="Connector 301"/>
          <p:cNvCxnSpPr/>
          <p:nvPr/>
        </p:nvCxnSpPr>
        <p:spPr>
          <a:xfrm>
            <a:off x="6263640" y="4928616"/>
            <a:ext cx="571500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303" name="TextBox 302"/>
          <p:cNvSpPr txBox="1"/>
          <p:nvPr/>
        </p:nvSpPr>
        <p:spPr>
          <a:xfrm>
            <a:off x="6336792" y="4992624"/>
            <a:ext cx="20116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Water ingress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336792" y="5157216"/>
            <a:ext cx="2011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payload must survive the hull slot</a:t>
            </a:r>
          </a:p>
        </p:txBody>
      </p:sp>
      <p:cxnSp>
        <p:nvCxnSpPr>
          <p:cNvPr id="305" name="Connector 304"/>
          <p:cNvCxnSpPr/>
          <p:nvPr/>
        </p:nvCxnSpPr>
        <p:spPr>
          <a:xfrm>
            <a:off x="8412480" y="5182362"/>
            <a:ext cx="201167" cy="0"/>
          </a:xfrm>
          <a:prstGeom prst="line">
            <a:avLst/>
          </a:prstGeom>
          <a:ln w="15875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306" name="TextBox 305"/>
          <p:cNvSpPr txBox="1"/>
          <p:nvPr/>
        </p:nvSpPr>
        <p:spPr>
          <a:xfrm>
            <a:off x="8686799" y="5001768"/>
            <a:ext cx="2615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263238"/>
                </a:solidFill>
                <a:latin typeface="Arial"/>
              </a:rPr>
              <a:t>O-ring end caps; parametric pod compiled and fit-checked in OpenSCAD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1338560" y="5084064"/>
            <a:ext cx="60350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8A7B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1338560" y="5084064"/>
            <a:ext cx="60350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 i="0">
                <a:solidFill>
                  <a:srgbClr val="8A7BAF"/>
                </a:solidFill>
                <a:latin typeface="Arial"/>
              </a:rPr>
              <a:t>DESIGNED</a:t>
            </a:r>
          </a:p>
        </p:txBody>
      </p:sp>
      <p:cxnSp>
        <p:nvCxnSpPr>
          <p:cNvPr id="309" name="Connector 308"/>
          <p:cNvCxnSpPr/>
          <p:nvPr/>
        </p:nvCxnSpPr>
        <p:spPr>
          <a:xfrm>
            <a:off x="6263640" y="5436108"/>
            <a:ext cx="571500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310" name="Rectangle 309"/>
          <p:cNvSpPr/>
          <p:nvPr/>
        </p:nvSpPr>
        <p:spPr>
          <a:xfrm>
            <a:off x="274320" y="5532120"/>
            <a:ext cx="117043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365760" y="5532120"/>
            <a:ext cx="10972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83153"/>
                </a:solidFill>
                <a:latin typeface="Arial"/>
              </a:rPr>
              <a:t>VIABILITY</a:t>
            </a:r>
          </a:p>
        </p:txBody>
      </p:sp>
      <p:cxnSp>
        <p:nvCxnSpPr>
          <p:cNvPr id="312" name="Connector 311"/>
          <p:cNvCxnSpPr/>
          <p:nvPr/>
        </p:nvCxnSpPr>
        <p:spPr>
          <a:xfrm>
            <a:off x="1325880" y="5605272"/>
            <a:ext cx="0" cy="292608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313" name="TextBox 312"/>
          <p:cNvSpPr txBox="1"/>
          <p:nvPr/>
        </p:nvSpPr>
        <p:spPr>
          <a:xfrm>
            <a:off x="1444752" y="5596128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83153"/>
                </a:solidFill>
                <a:latin typeface="Arial"/>
              </a:rPr>
              <a:t>Low-cost COTS</a:t>
            </a:r>
          </a:p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STM32 Nucleo · TLV9062 · standard passives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4078224" y="5596128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83153"/>
                </a:solidFill>
                <a:latin typeface="Arial"/>
              </a:rPr>
              <a:t>Software-defined</a:t>
            </a:r>
          </a:p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new waveform or policy = firmware update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6711696" y="5596128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83153"/>
                </a:solidFill>
                <a:latin typeface="Arial"/>
              </a:rPr>
              <a:t>Scalable</a:t>
            </a:r>
          </a:p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same architecture → 100–500 kHz with an external DAC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9345168" y="5596128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83153"/>
                </a:solidFill>
                <a:latin typeface="Arial"/>
              </a:rPr>
              <a:t>Maintainable</a:t>
            </a:r>
          </a:p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161 automated tests guard every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Garamond</vt:lpstr>
      <vt:lpstr>Oswald</vt:lpstr>
      <vt:lpstr>Noto Sans Symbols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Crowdfunder</dc:creator>
  <cp:lastModifiedBy>DELL</cp:lastModifiedBy>
  <cp:revision>3</cp:revision>
  <dcterms:created xsi:type="dcterms:W3CDTF">2013-12-12T18:46:50Z</dcterms:created>
  <dcterms:modified xsi:type="dcterms:W3CDTF">2026-08-20T05:29:49Z</dcterms:modified>
</cp:coreProperties>
</file>