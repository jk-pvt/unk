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8" r:id="rId4"/>
  </p:sldIdLst>
  <p:sldSz cx="12192000" cy="6858000"/>
  <p:notesSz cx="6858000" cy="9144000"/>
  <p:embeddedFontLst>
    <p:embeddedFont>
      <p:font typeface="Calibri" pitchFamily="34" charset="0"/>
      <p:regular r:id="rId10"/>
      <p:bold r:id="rId11"/>
      <p:italic r:id="rId12"/>
      <p:boldItalic r:id="rId13"/>
    </p:embeddedFont>
    <p:embeddedFont>
      <p:font typeface="Garamond" pitchFamily="18" charset="0"/>
      <p:regular r:id="rId14"/>
      <p:bold r:id="rId15"/>
      <p:italic r:id="rId16"/>
    </p:embeddedFont>
    <p:embeddedFont>
      <p:font typeface="Oswald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6sIpfbBRMJiHKANEKy+deDLRG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3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png"/><Relationship Id="rId8" Type="http://schemas.openxmlformats.org/officeDocument/2006/relationships/image" Target="../media/image6.jp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AquaSDR · TECHNICAL APPROACH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5514" y="1"/>
            <a:ext cx="1486486" cy="165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8" name="TextBox 117"/>
          <p:cNvSpPr txBox="1"/>
          <p:nvPr/>
        </p:nvSpPr>
        <p:spPr>
          <a:xfrm>
            <a:off x="1828800" y="850392"/>
            <a:ext cx="8503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4D5869"/>
                </a:solidFill>
                <a:latin typeface="Arial"/>
              </a:rPr>
              <a:t>Adaptive Software-Defined Sonar Transmitter for AUVs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28800" y="1069848"/>
            <a:ext cx="8503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A8494"/>
                </a:solidFill>
                <a:latin typeface="Arial"/>
              </a:rPr>
              <a:t>REAL SENSORS  →  ON-CHIP LOGIC  →  REAL PAYLOAD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74320" y="129844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E8C7E"/>
                </a:solidFill>
                <a:latin typeface="Arial"/>
              </a:rPr>
              <a:t>SENSE · REAL ENVIRONMENT</a:t>
            </a:r>
          </a:p>
        </p:txBody>
      </p:sp>
      <p:pic>
        <p:nvPicPr>
          <p:cNvPr id="121" name="Picture 120" descr="senso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1572768"/>
            <a:ext cx="1783080" cy="1961584"/>
          </a:xfrm>
          <a:prstGeom prst="rect">
            <a:avLst/>
          </a:prstGeom>
          <a:ln w="12700">
            <a:solidFill>
              <a:srgbClr val="3E8C7E"/>
            </a:solidFill>
          </a:ln>
          <a:effectLst/>
        </p:spPr>
      </p:pic>
      <p:sp>
        <p:nvSpPr>
          <p:cNvPr id="122" name="TextBox 121"/>
          <p:cNvSpPr txBox="1"/>
          <p:nvPr/>
        </p:nvSpPr>
        <p:spPr>
          <a:xfrm>
            <a:off x="91440" y="1732788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1" i="0">
                <a:solidFill>
                  <a:srgbClr val="1F2A44"/>
                </a:solidFill>
                <a:latin typeface="Arial"/>
              </a:rPr>
              <a:t>TDS / SALINITY PROXY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307592" y="1810512"/>
            <a:ext cx="672933" cy="301978"/>
          </a:xfrm>
          <a:prstGeom prst="line">
            <a:avLst/>
          </a:prstGeom>
          <a:ln w="11430">
            <a:solidFill>
              <a:srgbClr val="3E8C7E"/>
            </a:solidFill>
          </a:ln>
          <a:effectLst/>
        </p:spPr>
      </p:cxnSp>
      <p:sp>
        <p:nvSpPr>
          <p:cNvPr id="124" name="Oval 123"/>
          <p:cNvSpPr/>
          <p:nvPr/>
        </p:nvSpPr>
        <p:spPr>
          <a:xfrm>
            <a:off x="1943949" y="207591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440" y="2098548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1" i="0">
                <a:solidFill>
                  <a:srgbClr val="1F2A44"/>
                </a:solidFill>
                <a:latin typeface="Arial"/>
              </a:rPr>
              <a:t>HC-SR04 · AIR RANGE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307592" y="2176272"/>
            <a:ext cx="934026" cy="181893"/>
          </a:xfrm>
          <a:prstGeom prst="line">
            <a:avLst/>
          </a:prstGeom>
          <a:ln w="11430">
            <a:solidFill>
              <a:srgbClr val="3E8C7E"/>
            </a:solidFill>
          </a:ln>
          <a:effectLst/>
        </p:spPr>
      </p:cxnSp>
      <p:sp>
        <p:nvSpPr>
          <p:cNvPr id="127" name="Oval 126"/>
          <p:cNvSpPr/>
          <p:nvPr/>
        </p:nvSpPr>
        <p:spPr>
          <a:xfrm>
            <a:off x="2205042" y="2321589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1440" y="2464308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1" i="0">
                <a:solidFill>
                  <a:srgbClr val="1F2A44"/>
                </a:solidFill>
                <a:latin typeface="Arial"/>
              </a:rPr>
              <a:t>TURBIDITY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307592" y="2542032"/>
            <a:ext cx="706047" cy="77083"/>
          </a:xfrm>
          <a:prstGeom prst="line">
            <a:avLst/>
          </a:prstGeom>
          <a:ln w="11430">
            <a:solidFill>
              <a:srgbClr val="3E8C7E"/>
            </a:solidFill>
          </a:ln>
          <a:effectLst/>
        </p:spPr>
      </p:cxnSp>
      <p:sp>
        <p:nvSpPr>
          <p:cNvPr id="130" name="Oval 129"/>
          <p:cNvSpPr/>
          <p:nvPr/>
        </p:nvSpPr>
        <p:spPr>
          <a:xfrm>
            <a:off x="1977063" y="2582539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1440" y="2830068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1" i="0">
                <a:solidFill>
                  <a:srgbClr val="1F2A44"/>
                </a:solidFill>
                <a:latin typeface="Arial"/>
              </a:rPr>
              <a:t>DS18B20 TEMPERATURE</a:t>
            </a:r>
          </a:p>
        </p:txBody>
      </p:sp>
      <p:cxnSp>
        <p:nvCxnSpPr>
          <p:cNvPr id="132" name="Connector 131"/>
          <p:cNvCxnSpPr/>
          <p:nvPr/>
        </p:nvCxnSpPr>
        <p:spPr>
          <a:xfrm flipV="1">
            <a:off x="1307592" y="2586019"/>
            <a:ext cx="1392533" cy="321773"/>
          </a:xfrm>
          <a:prstGeom prst="line">
            <a:avLst/>
          </a:prstGeom>
          <a:ln w="11430">
            <a:solidFill>
              <a:srgbClr val="3E8C7E"/>
            </a:solidFill>
          </a:ln>
          <a:effectLst/>
        </p:spPr>
      </p:cxnSp>
      <p:sp>
        <p:nvSpPr>
          <p:cNvPr id="133" name="Oval 132"/>
          <p:cNvSpPr/>
          <p:nvPr/>
        </p:nvSpPr>
        <p:spPr>
          <a:xfrm>
            <a:off x="2663549" y="2549443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1440" y="3195828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1" i="0">
                <a:solidFill>
                  <a:srgbClr val="1F2A44"/>
                </a:solidFill>
                <a:latin typeface="Arial"/>
              </a:rPr>
              <a:t>PRESSURE / DEPTH</a:t>
            </a:r>
          </a:p>
        </p:txBody>
      </p:sp>
      <p:cxnSp>
        <p:nvCxnSpPr>
          <p:cNvPr id="135" name="Connector 134"/>
          <p:cNvCxnSpPr/>
          <p:nvPr/>
        </p:nvCxnSpPr>
        <p:spPr>
          <a:xfrm flipV="1">
            <a:off x="1307592" y="3011178"/>
            <a:ext cx="1327578" cy="262374"/>
          </a:xfrm>
          <a:prstGeom prst="line">
            <a:avLst/>
          </a:prstGeom>
          <a:ln w="11430">
            <a:solidFill>
              <a:srgbClr val="3E8C7E"/>
            </a:solidFill>
          </a:ln>
          <a:effectLst/>
        </p:spPr>
      </p:cxnSp>
      <p:sp>
        <p:nvSpPr>
          <p:cNvPr id="136" name="Oval 135"/>
          <p:cNvSpPr/>
          <p:nvPr/>
        </p:nvSpPr>
        <p:spPr>
          <a:xfrm>
            <a:off x="2598594" y="297460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325880" y="3570928"/>
            <a:ext cx="1783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E8C7E"/>
                </a:solidFill>
                <a:latin typeface="Arial"/>
              </a:rPr>
              <a:t>ADC  ·  1-Wire  ·  I²C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4320" y="3803904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F2A44"/>
                </a:solidFill>
                <a:latin typeface="Arial"/>
              </a:rPr>
              <a:t>ADDITIONAL SENSORS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74320" y="3986784"/>
            <a:ext cx="1133856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0" name="Picture 139" descr="bmp39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4023360"/>
            <a:ext cx="475488" cy="493776"/>
          </a:xfrm>
          <a:prstGeom prst="rect">
            <a:avLst/>
          </a:prstGeom>
          <a:ln w="6350">
            <a:solidFill>
              <a:srgbClr val="C9CFD8"/>
            </a:solidFill>
          </a:ln>
          <a:effectLst/>
        </p:spPr>
      </p:pic>
      <p:sp>
        <p:nvSpPr>
          <p:cNvPr id="141" name="TextBox 140"/>
          <p:cNvSpPr txBox="1"/>
          <p:nvPr/>
        </p:nvSpPr>
        <p:spPr>
          <a:xfrm>
            <a:off x="822960" y="4087368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1F2A44"/>
                </a:solidFill>
                <a:latin typeface="Arial"/>
              </a:rPr>
              <a:t>BMP390</a:t>
            </a:r>
          </a:p>
          <a:p>
            <a:pPr algn="l"/>
            <a:r>
              <a:rPr sz="680" b="0" i="0">
                <a:solidFill>
                  <a:srgbClr val="4D5869"/>
                </a:solidFill>
                <a:latin typeface="Arial"/>
              </a:rPr>
              <a:t>cabin pressure</a:t>
            </a:r>
          </a:p>
          <a:p>
            <a:pPr algn="l"/>
            <a:r>
              <a:rPr sz="680" b="0" i="0">
                <a:solidFill>
                  <a:srgbClr val="4D5869"/>
                </a:solidFill>
                <a:latin typeface="Arial"/>
              </a:rPr>
              <a:t>I²C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463040" y="3986784"/>
            <a:ext cx="84124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499616" y="4059936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40" b="1" i="0">
                <a:solidFill>
                  <a:srgbClr val="1F2A44"/>
                </a:solidFill>
                <a:latin typeface="Arial"/>
              </a:rPr>
              <a:t>IMU + magnetometer</a:t>
            </a:r>
          </a:p>
          <a:p>
            <a:pPr algn="ctr"/>
            <a:r>
              <a:rPr sz="660" b="0" i="0">
                <a:solidFill>
                  <a:srgbClr val="4D5869"/>
                </a:solidFill>
                <a:latin typeface="Arial"/>
              </a:rPr>
              <a:t>ISM330 · MMC5983</a:t>
            </a:r>
          </a:p>
          <a:p>
            <a:pPr algn="ctr"/>
            <a:r>
              <a:rPr sz="660" b="0" i="0">
                <a:solidFill>
                  <a:srgbClr val="4D5869"/>
                </a:solidFill>
                <a:latin typeface="Arial"/>
              </a:rPr>
              <a:t>I²C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359152" y="3986784"/>
            <a:ext cx="88696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A849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386584" y="4078224"/>
            <a:ext cx="8321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60" b="1" i="0">
                <a:solidFill>
                  <a:srgbClr val="1F2A44"/>
                </a:solidFill>
                <a:latin typeface="Arial"/>
              </a:rPr>
              <a:t>INA219 ×2</a:t>
            </a:r>
          </a:p>
          <a:p>
            <a:pPr algn="ctr"/>
            <a:r>
              <a:rPr sz="640" b="1" i="0">
                <a:solidFill>
                  <a:srgbClr val="7A8494"/>
                </a:solidFill>
                <a:latin typeface="Arial"/>
              </a:rPr>
              <a:t>MOUNTED · NOT</a:t>
            </a:r>
          </a:p>
          <a:p>
            <a:pPr algn="ctr"/>
            <a:r>
              <a:rPr sz="640" b="1" i="0">
                <a:solidFill>
                  <a:srgbClr val="7A8494"/>
                </a:solidFill>
                <a:latin typeface="Arial"/>
              </a:rPr>
              <a:t>COMMISSIONED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4320" y="4690872"/>
            <a:ext cx="3017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1F2A44"/>
                </a:solidFill>
                <a:latin typeface="Arial"/>
              </a:rPr>
              <a:t>ONE ADAPTATION POLICY · TWO INPUTS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4320" y="4873752"/>
            <a:ext cx="1325880" cy="384048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74320" y="4910328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F2A44"/>
                </a:solidFill>
                <a:latin typeface="Arial"/>
              </a:rPr>
              <a:t>A0 SENSOR</a:t>
            </a:r>
          </a:p>
          <a:p>
            <a:pPr algn="ctr"/>
            <a:r>
              <a:rPr sz="700" b="0" i="0">
                <a:solidFill>
                  <a:srgbClr val="4D5869"/>
                </a:solidFill>
                <a:latin typeface="Arial"/>
              </a:rPr>
              <a:t>TDS_PROXY → ADC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691640" y="4873752"/>
            <a:ext cx="1325880" cy="384048"/>
          </a:xfrm>
          <a:prstGeom prst="roundRect">
            <a:avLst>
              <a:gd name="adj" fmla="val 5000"/>
            </a:avLst>
          </a:prstGeom>
          <a:solidFill>
            <a:srgbClr val="EEF5F1"/>
          </a:solidFill>
          <a:ln w="12700">
            <a:solidFill>
              <a:srgbClr val="3E8C7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691640" y="4910328"/>
            <a:ext cx="1325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1F2A44"/>
                </a:solidFill>
                <a:latin typeface="Arial"/>
              </a:rPr>
              <a:t>WEB COMMAND</a:t>
            </a:r>
          </a:p>
          <a:p>
            <a:pPr algn="ctr"/>
            <a:r>
              <a:rPr sz="700" b="0" i="0">
                <a:solidFill>
                  <a:srgbClr val="4D5869"/>
                </a:solidFill>
                <a:latin typeface="Arial"/>
              </a:rPr>
              <a:t>console → UART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37259" y="5257800"/>
            <a:ext cx="0" cy="137160"/>
          </a:xfrm>
          <a:prstGeom prst="line">
            <a:avLst/>
          </a:prstGeom>
          <a:ln w="12700">
            <a:solidFill>
              <a:srgbClr val="3E8C7E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2354580" y="5257800"/>
            <a:ext cx="0" cy="137160"/>
          </a:xfrm>
          <a:prstGeom prst="line">
            <a:avLst/>
          </a:prstGeom>
          <a:ln w="12700">
            <a:solidFill>
              <a:srgbClr val="3E8C7E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937259" y="5394960"/>
            <a:ext cx="2409445" cy="0"/>
          </a:xfrm>
          <a:prstGeom prst="line">
            <a:avLst/>
          </a:prstGeom>
          <a:ln w="12700">
            <a:solidFill>
              <a:srgbClr val="3E8C7E"/>
            </a:solidFill>
          </a:ln>
          <a:effectLst/>
        </p:spPr>
      </p:cxnSp>
      <p:sp>
        <p:nvSpPr>
          <p:cNvPr id="154" name="TextBox 153"/>
          <p:cNvSpPr txBox="1"/>
          <p:nvPr/>
        </p:nvSpPr>
        <p:spPr>
          <a:xfrm>
            <a:off x="3429000" y="1298448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6A9C"/>
                </a:solidFill>
                <a:latin typeface="Arial"/>
              </a:rPr>
              <a:t>STM32F446RE · EMBEDDED CONTROL</a:t>
            </a:r>
            <a:r>
              <a:rPr sz="780" b="0" i="1">
                <a:solidFill>
                  <a:srgbClr val="7A8494"/>
                </a:solidFill>
                <a:latin typeface="Arial"/>
              </a:rPr>
              <a:t>   methodology &amp; process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429000" y="1572768"/>
            <a:ext cx="4297680" cy="4224528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 w="12700">
            <a:solidFill>
              <a:srgbClr val="4A6A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520440" y="1645920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520440" y="1645920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THE NEXT PING IS COMPUTED ON THE MCU</a:t>
            </a:r>
          </a:p>
        </p:txBody>
      </p:sp>
      <p:pic>
        <p:nvPicPr>
          <p:cNvPr id="158" name="Picture 157" descr="ba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1993392"/>
            <a:ext cx="2788920" cy="1031901"/>
          </a:xfrm>
          <a:prstGeom prst="rect">
            <a:avLst/>
          </a:prstGeom>
          <a:ln w="12700">
            <a:solidFill>
              <a:srgbClr val="4A6A9C"/>
            </a:solidFill>
          </a:ln>
          <a:effectLst/>
        </p:spPr>
      </p:pic>
      <p:cxnSp>
        <p:nvCxnSpPr>
          <p:cNvPr id="159" name="Connector 158"/>
          <p:cNvCxnSpPr/>
          <p:nvPr/>
        </p:nvCxnSpPr>
        <p:spPr>
          <a:xfrm flipV="1">
            <a:off x="4171950" y="2111028"/>
            <a:ext cx="123809" cy="604695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</p:cxnSp>
      <p:sp>
        <p:nvSpPr>
          <p:cNvPr id="160" name="Oval 159"/>
          <p:cNvSpPr/>
          <p:nvPr/>
        </p:nvSpPr>
        <p:spPr>
          <a:xfrm>
            <a:off x="4259183" y="207445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A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3604107" y="2715723"/>
            <a:ext cx="1135684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A6A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604107" y="2720295"/>
            <a:ext cx="1135684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F2A44"/>
                </a:solidFill>
                <a:latin typeface="Arial"/>
              </a:rPr>
              <a:t>STM32 NUCLEO-F446RE</a:t>
            </a:r>
          </a:p>
        </p:txBody>
      </p:sp>
      <p:cxnSp>
        <p:nvCxnSpPr>
          <p:cNvPr id="163" name="Connector 162"/>
          <p:cNvCxnSpPr/>
          <p:nvPr/>
        </p:nvCxnSpPr>
        <p:spPr>
          <a:xfrm flipH="1">
            <a:off x="5425272" y="2231392"/>
            <a:ext cx="386654" cy="608159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</p:cxnSp>
      <p:sp>
        <p:nvSpPr>
          <p:cNvPr id="164" name="Oval 163"/>
          <p:cNvSpPr/>
          <p:nvPr/>
        </p:nvSpPr>
        <p:spPr>
          <a:xfrm>
            <a:off x="5388696" y="2802975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6A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5138013" y="2075944"/>
            <a:ext cx="1347825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4A6A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138013" y="2080516"/>
            <a:ext cx="1347825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1F2A44"/>
                </a:solidFill>
                <a:latin typeface="Arial"/>
              </a:rPr>
              <a:t>Sensor interface boards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400800" y="1993392"/>
            <a:ext cx="1234440" cy="10319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F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64808" y="2011680"/>
            <a:ext cx="1133856" cy="995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A5524A"/>
                </a:solidFill>
                <a:latin typeface="Arial"/>
              </a:rPr>
              <a:t>MCU ADC CAPTURE</a:t>
            </a:r>
          </a:p>
          <a:p>
            <a:pPr algn="l"/>
            <a:r>
              <a:rPr sz="680" b="0" i="1">
                <a:solidFill>
                  <a:srgbClr val="7A8494"/>
                </a:solidFill>
                <a:latin typeface="Arial"/>
              </a:rPr>
              <a:t>LFM example · on-board</a:t>
            </a:r>
          </a:p>
          <a:p>
            <a:pPr algn="l"/>
            <a:r>
              <a:rPr sz="740" b="0" i="0">
                <a:solidFill>
                  <a:srgbClr val="4D5869"/>
                </a:solidFill>
                <a:latin typeface="Arial"/>
              </a:rPr>
              <a:t>Centre  </a:t>
            </a:r>
            <a:r>
              <a:rPr sz="740" b="1" i="0">
                <a:solidFill>
                  <a:srgbClr val="1F2A44"/>
                </a:solidFill>
                <a:latin typeface="Arial"/>
              </a:rPr>
              <a:t>42 kHz</a:t>
            </a:r>
          </a:p>
          <a:p>
            <a:pPr algn="l"/>
            <a:r>
              <a:rPr sz="740" b="0" i="0">
                <a:solidFill>
                  <a:srgbClr val="4D5869"/>
                </a:solidFill>
                <a:latin typeface="Arial"/>
              </a:rPr>
              <a:t>Sweep  </a:t>
            </a:r>
            <a:r>
              <a:rPr sz="740" b="1" i="0">
                <a:solidFill>
                  <a:srgbClr val="1F2A44"/>
                </a:solidFill>
                <a:latin typeface="Arial"/>
              </a:rPr>
              <a:t>4 kHz</a:t>
            </a:r>
          </a:p>
          <a:p>
            <a:pPr algn="l"/>
            <a:r>
              <a:rPr sz="740" b="0" i="0">
                <a:solidFill>
                  <a:srgbClr val="4D5869"/>
                </a:solidFill>
                <a:latin typeface="Arial"/>
              </a:rPr>
              <a:t>Pulse  </a:t>
            </a:r>
            <a:r>
              <a:rPr sz="740" b="1" i="0">
                <a:solidFill>
                  <a:srgbClr val="1F2A44"/>
                </a:solidFill>
                <a:latin typeface="Arial"/>
              </a:rPr>
              <a:t>2 ms</a:t>
            </a:r>
          </a:p>
          <a:p>
            <a:pPr algn="l"/>
            <a:r>
              <a:rPr sz="740" b="0" i="0">
                <a:solidFill>
                  <a:srgbClr val="4D5869"/>
                </a:solidFill>
                <a:latin typeface="Arial"/>
              </a:rPr>
              <a:t>Window  </a:t>
            </a:r>
            <a:r>
              <a:rPr sz="740" b="1" i="0">
                <a:solidFill>
                  <a:srgbClr val="1F2A44"/>
                </a:solidFill>
                <a:latin typeface="Arial"/>
              </a:rPr>
              <a:t>Hann</a:t>
            </a:r>
          </a:p>
          <a:p>
            <a:pPr algn="l"/>
            <a:r>
              <a:rPr sz="720" b="1" i="0">
                <a:solidFill>
                  <a:srgbClr val="1F2A44"/>
                </a:solidFill>
                <a:latin typeface="Arial"/>
              </a:rPr>
              <a:t>330/330</a:t>
            </a:r>
            <a:r>
              <a:rPr sz="700" b="0" i="0">
                <a:solidFill>
                  <a:srgbClr val="4D5869"/>
                </a:solidFill>
                <a:latin typeface="Arial"/>
              </a:rPr>
              <a:t> cmds ACKed</a:t>
            </a:r>
          </a:p>
          <a:p>
            <a:pPr algn="l"/>
            <a:r>
              <a:rPr sz="720" b="1" i="0">
                <a:solidFill>
                  <a:srgbClr val="1F2A44"/>
                </a:solidFill>
                <a:latin typeface="Arial"/>
              </a:rPr>
              <a:t>0</a:t>
            </a:r>
            <a:r>
              <a:rPr sz="700" b="0" i="0">
                <a:solidFill>
                  <a:srgbClr val="4D5869"/>
                </a:solidFill>
                <a:latin typeface="Arial"/>
              </a:rPr>
              <a:t> DMA underruns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3758184" y="3300984"/>
            <a:ext cx="0" cy="1536192"/>
          </a:xfrm>
          <a:prstGeom prst="line">
            <a:avLst/>
          </a:prstGeom>
          <a:ln w="15875">
            <a:solidFill>
              <a:srgbClr val="4A6A9C"/>
            </a:solidFill>
          </a:ln>
          <a:effectLst/>
        </p:spPr>
      </p:cxnSp>
      <p:sp>
        <p:nvSpPr>
          <p:cNvPr id="170" name="Oval 169"/>
          <p:cNvSpPr/>
          <p:nvPr/>
        </p:nvSpPr>
        <p:spPr>
          <a:xfrm>
            <a:off x="3657600" y="3200400"/>
            <a:ext cx="201168" cy="201168"/>
          </a:xfrm>
          <a:prstGeom prst="ellipse">
            <a:avLst/>
          </a:prstGeom>
          <a:solidFill>
            <a:srgbClr val="4A6A9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968496" y="3163824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1F2A44"/>
                </a:solidFill>
                <a:latin typeface="Arial"/>
              </a:rPr>
              <a:t>ACQUIRE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968496" y="331927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ADC · 1-Wire · I²C</a:t>
            </a:r>
          </a:p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stale / out-of-range inputs rejected</a:t>
            </a:r>
          </a:p>
        </p:txBody>
      </p:sp>
      <p:sp>
        <p:nvSpPr>
          <p:cNvPr id="173" name="Oval 172"/>
          <p:cNvSpPr/>
          <p:nvPr/>
        </p:nvSpPr>
        <p:spPr>
          <a:xfrm>
            <a:off x="3657600" y="3712463"/>
            <a:ext cx="201168" cy="201168"/>
          </a:xfrm>
          <a:prstGeom prst="ellipse">
            <a:avLst/>
          </a:prstGeom>
          <a:solidFill>
            <a:srgbClr val="4A6A9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968496" y="3675888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1F2A44"/>
                </a:solidFill>
                <a:latin typeface="Arial"/>
              </a:rPr>
              <a:t>DECIDE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968496" y="3831336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smoothing filter + hysteresis</a:t>
            </a:r>
          </a:p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CLEAR / TRANSITION / MURKY</a:t>
            </a:r>
          </a:p>
        </p:txBody>
      </p:sp>
      <p:sp>
        <p:nvSpPr>
          <p:cNvPr id="176" name="Oval 175"/>
          <p:cNvSpPr/>
          <p:nvPr/>
        </p:nvSpPr>
        <p:spPr>
          <a:xfrm>
            <a:off x="3657600" y="4224527"/>
            <a:ext cx="201168" cy="201168"/>
          </a:xfrm>
          <a:prstGeom prst="ellipse">
            <a:avLst/>
          </a:prstGeom>
          <a:solidFill>
            <a:srgbClr val="4A6A9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968496" y="4187952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1F2A44"/>
                </a:solidFill>
                <a:latin typeface="Arial"/>
              </a:rPr>
              <a:t>SYNTHESISE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968496" y="4343400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LFM chirp · geometric sweep · Barker-13</a:t>
            </a:r>
          </a:p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Hann · Hamming · Blackman windows</a:t>
            </a:r>
          </a:p>
        </p:txBody>
      </p:sp>
      <p:sp>
        <p:nvSpPr>
          <p:cNvPr id="179" name="Oval 178"/>
          <p:cNvSpPr/>
          <p:nvPr/>
        </p:nvSpPr>
        <p:spPr>
          <a:xfrm>
            <a:off x="3657600" y="4736592"/>
            <a:ext cx="201168" cy="201168"/>
          </a:xfrm>
          <a:prstGeom prst="ellipse">
            <a:avLst/>
          </a:prstGeom>
          <a:solidFill>
            <a:srgbClr val="4A6A9C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968496" y="4700016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1F2A44"/>
                </a:solidFill>
                <a:latin typeface="Arial"/>
              </a:rPr>
              <a:t>STREAM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968496" y="48554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TIM6 + DMA → 12-bit DAC1 / PA4</a:t>
            </a:r>
          </a:p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1 MS/s · 0 underruns · CPU free between transfers</a:t>
            </a:r>
          </a:p>
        </p:txBody>
      </p:sp>
      <p:sp>
        <p:nvSpPr>
          <p:cNvPr id="182" name="Oval 181"/>
          <p:cNvSpPr/>
          <p:nvPr/>
        </p:nvSpPr>
        <p:spPr>
          <a:xfrm>
            <a:off x="3657600" y="5248656"/>
            <a:ext cx="201168" cy="201168"/>
          </a:xfrm>
          <a:prstGeom prst="ellipse">
            <a:avLst/>
          </a:prstGeom>
          <a:solidFill>
            <a:srgbClr val="A5524A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968496" y="5212080"/>
            <a:ext cx="3657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19" b="1" i="0">
                <a:solidFill>
                  <a:srgbClr val="1F2A44"/>
                </a:solidFill>
                <a:latin typeface="Arial"/>
              </a:rPr>
              <a:t>SELF-VALIDATE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968496" y="5367528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ADC + DMA capture of the DAC output</a:t>
            </a:r>
          </a:p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FFT · spectrogram · matched filtering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3566160" y="4837176"/>
            <a:ext cx="0" cy="512064"/>
          </a:xfrm>
          <a:prstGeom prst="line">
            <a:avLst/>
          </a:prstGeom>
          <a:ln w="12700">
            <a:solidFill>
              <a:srgbClr val="A5524A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>
            <a:off x="3566160" y="5349240"/>
            <a:ext cx="73152" cy="0"/>
          </a:xfrm>
          <a:prstGeom prst="line">
            <a:avLst/>
          </a:prstGeom>
          <a:ln w="12700">
            <a:solidFill>
              <a:srgbClr val="A5524A"/>
            </a:solidFill>
            <a:tailEnd type="triangle" w="med" len="med"/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3108960" y="3300984"/>
            <a:ext cx="320040" cy="0"/>
          </a:xfrm>
          <a:prstGeom prst="line">
            <a:avLst/>
          </a:prstGeom>
          <a:ln w="15875">
            <a:solidFill>
              <a:srgbClr val="3E8C7E"/>
            </a:solidFill>
            <a:tailEnd type="triangle" w="med" len="med"/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3346704" y="3813048"/>
            <a:ext cx="0" cy="1581912"/>
          </a:xfrm>
          <a:prstGeom prst="line">
            <a:avLst/>
          </a:prstGeom>
          <a:ln w="15875">
            <a:solidFill>
              <a:srgbClr val="3E8C7E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3346704" y="3813048"/>
            <a:ext cx="82296" cy="0"/>
          </a:xfrm>
          <a:prstGeom prst="line">
            <a:avLst/>
          </a:prstGeom>
          <a:ln w="15875">
            <a:solidFill>
              <a:srgbClr val="3E8C7E"/>
            </a:solidFill>
            <a:tailEnd type="triangle" w="med" len="med"/>
          </a:ln>
          <a:effectLst/>
        </p:spPr>
      </p:cxnSp>
      <p:sp>
        <p:nvSpPr>
          <p:cNvPr id="190" name="TextBox 189"/>
          <p:cNvSpPr txBox="1"/>
          <p:nvPr/>
        </p:nvSpPr>
        <p:spPr>
          <a:xfrm>
            <a:off x="7909560" y="1298448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A7DB0"/>
                </a:solidFill>
                <a:latin typeface="Arial"/>
              </a:rPr>
              <a:t>ADAPTED NEXT PING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778240" y="1572768"/>
            <a:ext cx="594359" cy="192024"/>
          </a:xfrm>
          <a:prstGeom prst="roundRect">
            <a:avLst>
              <a:gd name="adj" fmla="val 30000"/>
            </a:avLst>
          </a:prstGeom>
          <a:solidFill>
            <a:srgbClr val="5B84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759952" y="1577339"/>
            <a:ext cx="63093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CLEAR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9409176" y="1572768"/>
            <a:ext cx="594359" cy="192024"/>
          </a:xfrm>
          <a:prstGeom prst="roundRect">
            <a:avLst>
              <a:gd name="adj" fmla="val 30000"/>
            </a:avLst>
          </a:prstGeom>
          <a:solidFill>
            <a:srgbClr val="8A7D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390888" y="1577339"/>
            <a:ext cx="63093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TRANSITION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10040112" y="1572768"/>
            <a:ext cx="594359" cy="192024"/>
          </a:xfrm>
          <a:prstGeom prst="roundRect">
            <a:avLst>
              <a:gd name="adj" fmla="val 30000"/>
            </a:avLst>
          </a:prstGeom>
          <a:solidFill>
            <a:srgbClr val="9A7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021824" y="1577339"/>
            <a:ext cx="630936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MURKY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973568" y="1819656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F2A44"/>
                </a:solidFill>
                <a:latin typeface="Arial"/>
              </a:rPr>
              <a:t>Centre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759952" y="1819656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42 kHz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390888" y="1819656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40 kHz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021824" y="1819656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38 kHz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7973568" y="2002536"/>
            <a:ext cx="2679192" cy="0"/>
          </a:xfrm>
          <a:prstGeom prst="line">
            <a:avLst/>
          </a:prstGeom>
          <a:ln w="6350">
            <a:solidFill>
              <a:srgbClr val="E3E7ED"/>
            </a:solidFill>
          </a:ln>
          <a:effectLst/>
        </p:spPr>
      </p:cxnSp>
      <p:sp>
        <p:nvSpPr>
          <p:cNvPr id="202" name="TextBox 201"/>
          <p:cNvSpPr txBox="1"/>
          <p:nvPr/>
        </p:nvSpPr>
        <p:spPr>
          <a:xfrm>
            <a:off x="7973568" y="2016252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F2A44"/>
                </a:solidFill>
                <a:latin typeface="Arial"/>
              </a:rPr>
              <a:t>Bandwidth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759952" y="2016252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4 kHz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390888" y="2016252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2 kHz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0021824" y="2016252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1 kHz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7973568" y="2199132"/>
            <a:ext cx="2679192" cy="0"/>
          </a:xfrm>
          <a:prstGeom prst="line">
            <a:avLst/>
          </a:prstGeom>
          <a:ln w="6350">
            <a:solidFill>
              <a:srgbClr val="E3E7ED"/>
            </a:solidFill>
          </a:ln>
          <a:effectLst/>
        </p:spPr>
      </p:cxnSp>
      <p:sp>
        <p:nvSpPr>
          <p:cNvPr id="207" name="TextBox 206"/>
          <p:cNvSpPr txBox="1"/>
          <p:nvPr/>
        </p:nvSpPr>
        <p:spPr>
          <a:xfrm>
            <a:off x="7973568" y="2212848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F2A44"/>
                </a:solidFill>
                <a:latin typeface="Arial"/>
              </a:rPr>
              <a:t>Pulse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759952" y="2212848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2 ms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390888" y="2212848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4 ms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021824" y="2212848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8 ms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7973568" y="2395728"/>
            <a:ext cx="2679192" cy="0"/>
          </a:xfrm>
          <a:prstGeom prst="line">
            <a:avLst/>
          </a:prstGeom>
          <a:ln w="6350">
            <a:solidFill>
              <a:srgbClr val="E3E7ED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7973568" y="2409444"/>
            <a:ext cx="78638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" b="1" i="0">
                <a:solidFill>
                  <a:srgbClr val="1F2A44"/>
                </a:solidFill>
                <a:latin typeface="Arial"/>
              </a:rPr>
              <a:t>Amplitude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759952" y="2409444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35 %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390888" y="2409444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50 %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021824" y="2409444"/>
            <a:ext cx="63093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40" b="0" i="0">
                <a:solidFill>
                  <a:srgbClr val="4D5869"/>
                </a:solidFill>
                <a:latin typeface="Arial"/>
              </a:rPr>
              <a:t>62 %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973568" y="2670048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CLEAR → shorter / sharper ping</a:t>
            </a:r>
          </a:p>
          <a:p>
            <a:pPr algn="l"/>
            <a:r>
              <a:rPr sz="760" b="0" i="0">
                <a:solidFill>
                  <a:srgbClr val="4D5869"/>
                </a:solidFill>
                <a:latin typeface="Arial"/>
              </a:rPr>
              <a:t>MURKY → lower band / longer pulse / higher output demand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7726679" y="3813048"/>
            <a:ext cx="91441" cy="0"/>
          </a:xfrm>
          <a:prstGeom prst="line">
            <a:avLst/>
          </a:prstGeom>
          <a:ln w="15875">
            <a:solidFill>
              <a:srgbClr val="8A7DB0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7818120" y="2194560"/>
            <a:ext cx="0" cy="1618488"/>
          </a:xfrm>
          <a:prstGeom prst="line">
            <a:avLst/>
          </a:prstGeom>
          <a:ln w="15875">
            <a:solidFill>
              <a:srgbClr val="8A7DB0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7818120" y="2194560"/>
            <a:ext cx="118872" cy="0"/>
          </a:xfrm>
          <a:prstGeom prst="line">
            <a:avLst/>
          </a:prstGeom>
          <a:ln w="15875">
            <a:solidFill>
              <a:srgbClr val="8A7DB0"/>
            </a:solidFill>
            <a:tailEnd type="triangle" w="med" len="med"/>
          </a:ln>
          <a:effectLst/>
        </p:spPr>
      </p:cxnSp>
      <p:sp>
        <p:nvSpPr>
          <p:cNvPr id="220" name="Rounded Rectangle 219"/>
          <p:cNvSpPr/>
          <p:nvPr/>
        </p:nvSpPr>
        <p:spPr>
          <a:xfrm>
            <a:off x="7909560" y="3054096"/>
            <a:ext cx="40690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8A7D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01000" y="3127248"/>
            <a:ext cx="201168" cy="201168"/>
          </a:xfrm>
          <a:prstGeom prst="ellipse">
            <a:avLst/>
          </a:prstGeom>
          <a:solidFill>
            <a:srgbClr val="8A7DB0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8284464" y="3127248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F2A44"/>
                </a:solidFill>
                <a:latin typeface="Arial"/>
              </a:rPr>
              <a:t>CONDITION · ANALOG FRONT END</a:t>
            </a:r>
          </a:p>
        </p:txBody>
      </p:sp>
      <p:pic>
        <p:nvPicPr>
          <p:cNvPr id="223" name="Picture 222" descr="afe_ch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0144" y="3401568"/>
            <a:ext cx="2286000" cy="627160"/>
          </a:xfrm>
          <a:prstGeom prst="rect">
            <a:avLst/>
          </a:prstGeom>
          <a:ln w="3175">
            <a:solidFill>
              <a:srgbClr val="FFFFFF"/>
            </a:solidFill>
          </a:ln>
          <a:effectLst/>
        </p:spPr>
      </p:pic>
      <p:sp>
        <p:nvSpPr>
          <p:cNvPr id="224" name="TextBox 223"/>
          <p:cNvSpPr txBox="1"/>
          <p:nvPr/>
        </p:nvSpPr>
        <p:spPr>
          <a:xfrm>
            <a:off x="10387584" y="338328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" b="1" i="0">
                <a:solidFill>
                  <a:srgbClr val="1F2A44"/>
                </a:solidFill>
                <a:latin typeface="Arial"/>
              </a:rPr>
              <a:t>2nd-order low-pass filter</a:t>
            </a:r>
          </a:p>
          <a:p>
            <a:pPr algn="l"/>
            <a:r>
              <a:rPr sz="740" b="0" i="0">
                <a:solidFill>
                  <a:srgbClr val="4D5869"/>
                </a:solidFill>
                <a:latin typeface="Arial"/>
              </a:rPr>
              <a:t>70.7 kHz design target</a:t>
            </a:r>
          </a:p>
          <a:p>
            <a:pPr algn="l"/>
            <a:r>
              <a:rPr sz="760" b="1" i="0">
                <a:solidFill>
                  <a:srgbClr val="1F2A44"/>
                </a:solidFill>
                <a:latin typeface="Arial"/>
              </a:rPr>
              <a:t>TLV9062 ×1.5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0387584" y="3840480"/>
            <a:ext cx="13898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8A7D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0387584" y="3845052"/>
            <a:ext cx="138988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8A7DB0"/>
                </a:solidFill>
                <a:latin typeface="Arial"/>
              </a:rPr>
              <a:t>DESIGNED · NEXT BUILD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7726679" y="4837176"/>
            <a:ext cx="118873" cy="0"/>
          </a:xfrm>
          <a:prstGeom prst="line">
            <a:avLst/>
          </a:prstGeom>
          <a:ln w="15875">
            <a:solidFill>
              <a:srgbClr val="8A7DB0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7845552" y="3931920"/>
            <a:ext cx="0" cy="905256"/>
          </a:xfrm>
          <a:prstGeom prst="line">
            <a:avLst/>
          </a:prstGeom>
          <a:ln w="15875">
            <a:solidFill>
              <a:srgbClr val="8A7DB0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7845552" y="3931920"/>
            <a:ext cx="64008" cy="0"/>
          </a:xfrm>
          <a:prstGeom prst="line">
            <a:avLst/>
          </a:prstGeom>
          <a:ln w="15875">
            <a:solidFill>
              <a:srgbClr val="8A7DB0"/>
            </a:solidFill>
            <a:tailEnd type="triangle" w="med" len="med"/>
          </a:ln>
          <a:effectLst/>
        </p:spPr>
      </p:cxnSp>
      <p:cxnSp>
        <p:nvCxnSpPr>
          <p:cNvPr id="230" name="Connector 229"/>
          <p:cNvCxnSpPr/>
          <p:nvPr/>
        </p:nvCxnSpPr>
        <p:spPr>
          <a:xfrm>
            <a:off x="9944100" y="4114800"/>
            <a:ext cx="0" cy="128016"/>
          </a:xfrm>
          <a:prstGeom prst="line">
            <a:avLst/>
          </a:prstGeom>
          <a:ln w="15875">
            <a:solidFill>
              <a:srgbClr val="1F2A44"/>
            </a:solidFill>
            <a:tailEnd type="triangle" w="med" len="med"/>
          </a:ln>
          <a:effectLst/>
        </p:spPr>
      </p:cxnSp>
      <p:pic>
        <p:nvPicPr>
          <p:cNvPr id="231" name="Picture 230" descr="payloa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4261104"/>
            <a:ext cx="4069080" cy="1089445"/>
          </a:xfrm>
          <a:prstGeom prst="rect">
            <a:avLst/>
          </a:prstGeom>
          <a:ln w="15875">
            <a:solidFill>
              <a:srgbClr val="1F2A44"/>
            </a:solidFill>
          </a:ln>
          <a:effectLst/>
        </p:spPr>
      </p:pic>
      <p:sp>
        <p:nvSpPr>
          <p:cNvPr id="232" name="TextBox 231"/>
          <p:cNvSpPr txBox="1"/>
          <p:nvPr/>
        </p:nvSpPr>
        <p:spPr>
          <a:xfrm>
            <a:off x="7909560" y="5387125"/>
            <a:ext cx="4069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1" i="0">
                <a:solidFill>
                  <a:srgbClr val="1F2A44"/>
                </a:solidFill>
                <a:latin typeface="Arial"/>
              </a:rPr>
              <a:t>AQUASDR PAYLOAD · PHYSICAL PROTOTYPE  </a:t>
            </a:r>
            <a:r>
              <a:rPr sz="760" b="0" i="0">
                <a:solidFill>
                  <a:srgbClr val="4D5869"/>
                </a:solidFill>
                <a:latin typeface="Arial"/>
              </a:rPr>
              <a:t>acrylic payload hull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909560" y="5570005"/>
            <a:ext cx="4069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" b="0" i="1">
                <a:solidFill>
                  <a:srgbClr val="7A8494"/>
                </a:solidFill>
                <a:latin typeface="Arial"/>
              </a:rPr>
              <a:t>External scope validation → PENDING   ·   AUV hull-slot pod → NEXT BUILD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3520440" y="5856732"/>
            <a:ext cx="219456" cy="1097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0160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776472" y="5838444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D5869"/>
                </a:solidFill>
                <a:latin typeface="Arial"/>
              </a:rPr>
              <a:t>built / running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4663440" y="5856732"/>
            <a:ext cx="219456" cy="1097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0160">
            <a:solidFill>
              <a:srgbClr val="1F2A4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919472" y="5838444"/>
            <a:ext cx="11887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" b="0" i="0">
                <a:solidFill>
                  <a:srgbClr val="4D5869"/>
                </a:solidFill>
                <a:latin typeface="Arial"/>
              </a:rPr>
              <a:t>designed / next build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889607" y="6053328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889607" y="6053328"/>
            <a:ext cx="914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F2A44"/>
                </a:solidFill>
                <a:latin typeface="Arial"/>
              </a:rPr>
              <a:t>SENSE</a:t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2868015" y="6163056"/>
            <a:ext cx="374904" cy="0"/>
          </a:xfrm>
          <a:prstGeom prst="line">
            <a:avLst/>
          </a:prstGeom>
          <a:ln w="12700">
            <a:solidFill>
              <a:srgbClr val="1F2A44"/>
            </a:solidFill>
            <a:tailEnd type="triangle" w="med" len="med"/>
          </a:ln>
          <a:effectLst/>
        </p:spPr>
      </p:cxnSp>
      <p:sp>
        <p:nvSpPr>
          <p:cNvPr id="241" name="Rounded Rectangle 240"/>
          <p:cNvSpPr/>
          <p:nvPr/>
        </p:nvSpPr>
        <p:spPr>
          <a:xfrm>
            <a:off x="3306927" y="6053328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306927" y="6053328"/>
            <a:ext cx="914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F2A44"/>
                </a:solidFill>
                <a:latin typeface="Arial"/>
              </a:rPr>
              <a:t>DECIDE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4285335" y="6163056"/>
            <a:ext cx="374904" cy="0"/>
          </a:xfrm>
          <a:prstGeom prst="line">
            <a:avLst/>
          </a:prstGeom>
          <a:ln w="12700">
            <a:solidFill>
              <a:srgbClr val="1F2A44"/>
            </a:solidFill>
            <a:tailEnd type="triangle" w="med" len="med"/>
          </a:ln>
          <a:effectLst/>
        </p:spPr>
      </p:cxnSp>
      <p:sp>
        <p:nvSpPr>
          <p:cNvPr id="244" name="Rounded Rectangle 243"/>
          <p:cNvSpPr/>
          <p:nvPr/>
        </p:nvSpPr>
        <p:spPr>
          <a:xfrm>
            <a:off x="4724247" y="6053328"/>
            <a:ext cx="11430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4724247" y="6053328"/>
            <a:ext cx="1143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F2A44"/>
                </a:solidFill>
                <a:latin typeface="Arial"/>
              </a:rPr>
              <a:t>SYNTHESISE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5931255" y="6163056"/>
            <a:ext cx="374904" cy="0"/>
          </a:xfrm>
          <a:prstGeom prst="line">
            <a:avLst/>
          </a:prstGeom>
          <a:ln w="12700">
            <a:solidFill>
              <a:srgbClr val="1F2A44"/>
            </a:solidFill>
            <a:tailEnd type="triangle" w="med" len="med"/>
          </a:ln>
          <a:effectLst/>
        </p:spPr>
      </p:cxnSp>
      <p:sp>
        <p:nvSpPr>
          <p:cNvPr id="247" name="Rounded Rectangle 246"/>
          <p:cNvSpPr/>
          <p:nvPr/>
        </p:nvSpPr>
        <p:spPr>
          <a:xfrm>
            <a:off x="6370167" y="6053328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370167" y="6053328"/>
            <a:ext cx="914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F2A44"/>
                </a:solidFill>
                <a:latin typeface="Arial"/>
              </a:rPr>
              <a:t>STREAM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7348575" y="6163056"/>
            <a:ext cx="374904" cy="0"/>
          </a:xfrm>
          <a:prstGeom prst="line">
            <a:avLst/>
          </a:prstGeom>
          <a:ln w="12700">
            <a:solidFill>
              <a:srgbClr val="1F2A44"/>
            </a:solidFill>
            <a:tailEnd type="triangle" w="med" len="med"/>
          </a:ln>
          <a:effectLst/>
        </p:spPr>
      </p:cxnSp>
      <p:sp>
        <p:nvSpPr>
          <p:cNvPr id="250" name="Rounded Rectangle 249"/>
          <p:cNvSpPr/>
          <p:nvPr/>
        </p:nvSpPr>
        <p:spPr>
          <a:xfrm>
            <a:off x="7787487" y="6053328"/>
            <a:ext cx="109728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A7DB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7787487" y="6053328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F2A44"/>
                </a:solidFill>
                <a:latin typeface="Arial"/>
              </a:rPr>
              <a:t>CONDITION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8948775" y="6163056"/>
            <a:ext cx="374904" cy="0"/>
          </a:xfrm>
          <a:prstGeom prst="line">
            <a:avLst/>
          </a:prstGeom>
          <a:ln w="12700">
            <a:solidFill>
              <a:srgbClr val="1F2A44"/>
            </a:solidFill>
            <a:tailEnd type="triangle" w="med" len="med"/>
          </a:ln>
          <a:effectLst/>
        </p:spPr>
      </p:cxnSp>
      <p:sp>
        <p:nvSpPr>
          <p:cNvPr id="253" name="Rounded Rectangle 252"/>
          <p:cNvSpPr/>
          <p:nvPr/>
        </p:nvSpPr>
        <p:spPr>
          <a:xfrm>
            <a:off x="9387687" y="6053328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2A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9387687" y="6053328"/>
            <a:ext cx="914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40" b="1" i="0">
                <a:solidFill>
                  <a:srgbClr val="1F2A44"/>
                </a:solidFill>
                <a:latin typeface="Arial"/>
              </a:rPr>
              <a:t>VERIFY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PresentationFormat>Custom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 New Roman</vt:lpstr>
      <vt:lpstr>Garamond</vt:lpstr>
      <vt:lpstr>Oswald</vt:lpstr>
      <vt:lpstr>Noto Sans Symbols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2026</dc:title>
  <dc:creator>Crowdfunder</dc:creator>
  <cp:lastModifiedBy>DELL</cp:lastModifiedBy>
  <cp:revision>3</cp:revision>
  <dcterms:created xsi:type="dcterms:W3CDTF">2013-12-12T18:46:50Z</dcterms:created>
  <dcterms:modified xsi:type="dcterms:W3CDTF">2026-08-20T05:29:49Z</dcterms:modified>
</cp:coreProperties>
</file>